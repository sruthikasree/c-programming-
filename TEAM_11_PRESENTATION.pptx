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4" r:id="rId9"/>
    <p:sldId id="265" r:id="rId10"/>
    <p:sldId id="267" r:id="rId11"/>
    <p:sldId id="268" r:id="rId12"/>
    <p:sldId id="269" r:id="rId13"/>
    <p:sldId id="270"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0503962-59F2-4D1D-BE34-A76170794E12}">
          <p14:sldIdLst>
            <p14:sldId id="256"/>
            <p14:sldId id="257"/>
            <p14:sldId id="258"/>
            <p14:sldId id="259"/>
            <p14:sldId id="260"/>
            <p14:sldId id="261"/>
            <p14:sldId id="264"/>
            <p14:sldId id="265"/>
            <p14:sldId id="267"/>
            <p14:sldId id="268"/>
            <p14:sldId id="269"/>
            <p14:sldId id="270"/>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42A54C80-263E-416B-A8E0-580EDEADCB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endParaRPr lang="en-GB"/>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endParaRPr lang="en-GB"/>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endParaRPr lang="en-GB"/>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1712" y="2784146"/>
            <a:ext cx="9885036" cy="4058464"/>
          </a:xfrm>
        </p:spPr>
        <p:txBody>
          <a:bodyPr>
            <a:normAutofit fontScale="85000" lnSpcReduction="20000"/>
          </a:bodyPr>
          <a:lstStyle/>
          <a:p>
            <a:pPr algn="just"/>
            <a:r>
              <a:rPr lang="en-US" sz="2000" dirty="0">
                <a:solidFill>
                  <a:srgbClr val="0070C0"/>
                </a:solidFill>
              </a:rPr>
              <a:t>                    FOUNDATION OF COMPUTING</a:t>
            </a:r>
            <a:r>
              <a:rPr lang="en-US" sz="2000" dirty="0"/>
              <a:t> </a:t>
            </a:r>
            <a:endParaRPr lang="en-US" sz="2000" dirty="0"/>
          </a:p>
          <a:p>
            <a:pPr algn="just"/>
            <a:r>
              <a:rPr lang="en-US" sz="2000" dirty="0"/>
              <a:t>   </a:t>
            </a:r>
            <a:r>
              <a:rPr lang="en-US" sz="2000" dirty="0">
                <a:solidFill>
                  <a:srgbClr val="7F7F7F"/>
                </a:solidFill>
              </a:rPr>
              <a:t>                              </a:t>
            </a:r>
            <a:r>
              <a:rPr lang="en-US" sz="2000" dirty="0">
                <a:solidFill>
                  <a:srgbClr val="0070C0"/>
                </a:solidFill>
              </a:rPr>
              <a:t>  TEAM 11</a:t>
            </a:r>
            <a:endParaRPr lang="en-US" sz="2000" dirty="0">
              <a:solidFill>
                <a:srgbClr val="0070C0"/>
              </a:solidFill>
            </a:endParaRPr>
          </a:p>
          <a:p>
            <a:pPr algn="just"/>
            <a:r>
              <a:rPr lang="en-US" sz="2000" dirty="0">
                <a:solidFill>
                  <a:srgbClr val="0070C0"/>
                </a:solidFill>
              </a:rPr>
              <a:t>TEAM MEMBERS:</a:t>
            </a:r>
            <a:endParaRPr lang="en-US" sz="2000" dirty="0">
              <a:solidFill>
                <a:srgbClr val="0070C0"/>
              </a:solidFill>
            </a:endParaRPr>
          </a:p>
          <a:p>
            <a:pPr algn="just"/>
            <a:r>
              <a:rPr lang="en-US" sz="2000">
                <a:solidFill>
                  <a:srgbClr val="0070C0"/>
                </a:solidFill>
              </a:rPr>
              <a:t>          1.SINDHYA J                   (25BCS151)</a:t>
            </a:r>
            <a:endParaRPr lang="en-US" sz="2000">
              <a:solidFill>
                <a:srgbClr val="000000"/>
              </a:solidFill>
            </a:endParaRPr>
          </a:p>
          <a:p>
            <a:pPr algn="just"/>
            <a:r>
              <a:rPr lang="en-US" sz="2000">
                <a:solidFill>
                  <a:srgbClr val="0070C0"/>
                </a:solidFill>
              </a:rPr>
              <a:t>          2.SRI ABILESH V              (25BCS152)</a:t>
            </a:r>
            <a:endParaRPr lang="en-US" sz="2000"/>
          </a:p>
          <a:p>
            <a:pPr algn="just"/>
            <a:r>
              <a:rPr lang="en-US" sz="2000">
                <a:solidFill>
                  <a:srgbClr val="0070C0"/>
                </a:solidFill>
              </a:rPr>
              <a:t>          3.SRI KARAN K                (25BCS153</a:t>
            </a:r>
            <a:endParaRPr lang="en-US" sz="2000">
              <a:solidFill>
                <a:srgbClr val="0070C0"/>
              </a:solidFill>
            </a:endParaRPr>
          </a:p>
          <a:p>
            <a:pPr algn="just"/>
            <a:r>
              <a:rPr lang="en-US" sz="2000">
                <a:solidFill>
                  <a:srgbClr val="0070C0"/>
                </a:solidFill>
              </a:rPr>
              <a:t>          4.SRIDHAR R                   (25BCS154)</a:t>
            </a:r>
            <a:endParaRPr lang="en-US" sz="2000">
              <a:solidFill>
                <a:srgbClr val="0070C0"/>
              </a:solidFill>
            </a:endParaRPr>
          </a:p>
          <a:p>
            <a:pPr algn="just"/>
            <a:r>
              <a:rPr lang="en-US" sz="2000">
                <a:solidFill>
                  <a:srgbClr val="0070C0"/>
                </a:solidFill>
              </a:rPr>
              <a:t>          5.SRUTHIKA SREE K M      (25BCS155)</a:t>
            </a:r>
            <a:endParaRPr lang="en-US" sz="2000"/>
          </a:p>
          <a:p>
            <a:pPr algn="just"/>
            <a:r>
              <a:rPr lang="en-US" sz="2000">
                <a:solidFill>
                  <a:srgbClr val="0070C0"/>
                </a:solidFill>
              </a:rPr>
              <a:t>          6. SUDHARSAN S              (25BCS156)</a:t>
            </a:r>
            <a:endParaRPr lang="en-US" sz="2000">
              <a:solidFill>
                <a:srgbClr val="0070C0"/>
              </a:solidFill>
            </a:endParaRPr>
          </a:p>
          <a:p>
            <a:pPr algn="just"/>
            <a:r>
              <a:rPr lang="en-US" sz="2000" dirty="0">
                <a:solidFill>
                  <a:srgbClr val="0070C0"/>
                </a:solidFill>
              </a:rPr>
              <a:t>      </a:t>
            </a:r>
            <a:endParaRPr lang="en-US" sz="2000" dirty="0">
              <a:solidFill>
                <a:srgbClr val="0070C0"/>
              </a:solidFill>
            </a:endParaRPr>
          </a:p>
          <a:p>
            <a:pPr algn="just"/>
            <a:r>
              <a:rPr lang="en-US" sz="2000" dirty="0">
                <a:solidFill>
                  <a:srgbClr val="0070C0"/>
                </a:solidFill>
              </a:rPr>
              <a:t>                  </a:t>
            </a:r>
            <a:endParaRPr lang="en-US" sz="2000" dirty="0">
              <a:solidFill>
                <a:srgbClr val="0070C0"/>
              </a:solidFill>
            </a:endParaRPr>
          </a:p>
          <a:p>
            <a:pPr algn="just"/>
            <a:r>
              <a:rPr lang="en-US" sz="2000" dirty="0">
                <a:solidFill>
                  <a:srgbClr val="0070C0"/>
                </a:solidFill>
              </a:rPr>
              <a:t>               </a:t>
            </a:r>
            <a:endParaRPr lang="en-US" sz="2000" dirty="0">
              <a:solidFill>
                <a:srgbClr val="0070C0"/>
              </a:solidFill>
            </a:endParaRPr>
          </a:p>
        </p:txBody>
      </p:sp>
      <p:pic>
        <p:nvPicPr>
          <p:cNvPr id="4" name="Picture 3" descr="A logo for a company&#10;&#10;AI-generated content may be incorrect."/>
          <p:cNvPicPr>
            <a:picLocks noChangeAspect="1"/>
          </p:cNvPicPr>
          <p:nvPr/>
        </p:nvPicPr>
        <p:blipFill>
          <a:blip r:embed="rId1"/>
          <a:stretch>
            <a:fillRect/>
          </a:stretch>
        </p:blipFill>
        <p:spPr>
          <a:xfrm>
            <a:off x="957840" y="3725"/>
            <a:ext cx="9879686" cy="27661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2060"/>
                </a:solidFill>
              </a:rPr>
              <a:t>                INTRODUCTION </a:t>
            </a:r>
            <a:br>
              <a:rPr lang="en-US" dirty="0">
                <a:solidFill>
                  <a:srgbClr val="002060"/>
                </a:solidFill>
              </a:rPr>
            </a:br>
            <a:r>
              <a:rPr lang="en-US">
                <a:solidFill>
                  <a:srgbClr val="002060"/>
                </a:solidFill>
              </a:rPr>
              <a:t>             ONLINE QUIZ SYSTEM</a:t>
            </a:r>
            <a:endParaRPr lang="en-US" dirty="0">
              <a:solidFill>
                <a:srgbClr val="002060"/>
              </a:solidFill>
            </a:endParaRPr>
          </a:p>
        </p:txBody>
      </p:sp>
      <p:sp>
        <p:nvSpPr>
          <p:cNvPr id="3" name="Content Placeholder 2"/>
          <p:cNvSpPr>
            <a:spLocks noGrp="1"/>
          </p:cNvSpPr>
          <p:nvPr>
            <p:ph idx="1"/>
          </p:nvPr>
        </p:nvSpPr>
        <p:spPr>
          <a:xfrm>
            <a:off x="677334" y="2160589"/>
            <a:ext cx="8596668" cy="4220742"/>
          </a:xfrm>
        </p:spPr>
        <p:txBody>
          <a:bodyPr vert="horz" lIns="91440" tIns="45720" rIns="91440" bIns="45720" rtlCol="0" anchor="t">
            <a:normAutofit/>
          </a:bodyPr>
          <a:lstStyle/>
          <a:p>
            <a:r>
              <a:rPr lang="en-US" sz="2400">
                <a:ea typeface="+mn-lt"/>
                <a:cs typeface="+mn-lt"/>
              </a:rPr>
              <a:t>The Online Quiz System is a simple C program that allows users to take multiple-choice quizzes through a console interface. It tests users’ knowledge on various topics and displays their scores instantly. The project uses basic C concepts like loops, functions, arrays, and file handling to make the quiz interactive and efficient.</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OBJECTIVE</a:t>
            </a:r>
            <a:r>
              <a:rPr lang="en-US" dirty="0">
                <a:ea typeface="+mj-lt"/>
                <a:cs typeface="+mj-lt"/>
              </a:rPr>
              <a:t> </a:t>
            </a:r>
            <a:endParaRPr lang="en-US" dirty="0"/>
          </a:p>
          <a:p>
            <a:endParaRPr lang="en-US"/>
          </a:p>
          <a:p>
            <a:endParaRPr lang="en-US"/>
          </a:p>
        </p:txBody>
      </p:sp>
      <p:sp>
        <p:nvSpPr>
          <p:cNvPr id="3" name="Content Placeholder 2"/>
          <p:cNvSpPr>
            <a:spLocks noGrp="1"/>
          </p:cNvSpPr>
          <p:nvPr>
            <p:ph idx="1"/>
          </p:nvPr>
        </p:nvSpPr>
        <p:spPr/>
        <p:txBody>
          <a:bodyPr vert="horz" lIns="91440" tIns="45720" rIns="91440" bIns="45720" rtlCol="0" anchor="t">
            <a:normAutofit/>
          </a:bodyPr>
          <a:lstStyle/>
          <a:p>
            <a:r>
              <a:rPr lang="en-US" sz="2400">
                <a:ea typeface="+mn-lt"/>
                <a:cs typeface="+mn-lt"/>
              </a:rPr>
              <a:t>The objective of the Online Quiz System is to develop a console-based application in C that allows users to participate in a multiple-choice quiz. The system aims to automate the process of conducting quizzes by providing functionalities such as user login, question display, answer evaluation, score calculation, and result display. It ensures an interactive and efficient way to test the user’s knowledge on various topics without manual paper-based evaluation.</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PROBLEM STATEMENT </a:t>
            </a:r>
            <a:endParaRPr lang="en-US">
              <a:solidFill>
                <a:srgbClr val="002060"/>
              </a:solidFill>
            </a:endParaRPr>
          </a:p>
          <a:p>
            <a:endParaRPr lang="en-US"/>
          </a:p>
        </p:txBody>
      </p:sp>
      <p:sp>
        <p:nvSpPr>
          <p:cNvPr id="3" name="Content Placeholder 2"/>
          <p:cNvSpPr>
            <a:spLocks noGrp="1"/>
          </p:cNvSpPr>
          <p:nvPr>
            <p:ph idx="1"/>
          </p:nvPr>
        </p:nvSpPr>
        <p:spPr>
          <a:xfrm>
            <a:off x="677334" y="1715113"/>
            <a:ext cx="9933098" cy="5135141"/>
          </a:xfrm>
        </p:spPr>
        <p:txBody>
          <a:bodyPr vert="horz" lIns="91440" tIns="45720" rIns="91440" bIns="45720" rtlCol="0" anchor="t">
            <a:noAutofit/>
          </a:bodyPr>
          <a:lstStyle/>
          <a:p>
            <a:r>
              <a:rPr lang="en-US" sz="2000">
                <a:ea typeface="+mn-lt"/>
                <a:cs typeface="+mn-lt"/>
              </a:rPr>
              <a:t>In traditional quiz or examination systems, conducting and evaluating quizzes manually is time-consuming and prone to human errors. The process involves preparing question papers, distributing them, collecting responses, and manually calculating scores, which makes it inefficient and less interactive.</a:t>
            </a:r>
            <a:endParaRPr lang="en-US" sz="2000"/>
          </a:p>
          <a:p>
            <a:endParaRPr lang="en-US" sz="2000" dirty="0">
              <a:ea typeface="+mn-lt"/>
              <a:cs typeface="+mn-lt"/>
            </a:endParaRPr>
          </a:p>
          <a:p>
            <a:r>
              <a:rPr lang="en-US" sz="2000">
                <a:ea typeface="+mn-lt"/>
                <a:cs typeface="+mn-lt"/>
              </a:rPr>
              <a:t>To overcome these limitations, there is a need for a computerized solution that can automate quiz management. The proposed Online Quiz System aims to provide a simple, fast, and reliable way to conduct quizzes digitally using the C programming language. The system will allow users to answer multiple-choice questions, automatically evaluate their responses, and display the results instantly.</a:t>
            </a:r>
            <a:endParaRPr lang="en-US" sz="2000"/>
          </a:p>
          <a:p>
            <a:endParaRPr lang="en-US" sz="2000" dirty="0">
              <a:ea typeface="+mn-lt"/>
              <a:cs typeface="+mn-lt"/>
            </a:endParaRPr>
          </a:p>
          <a:p>
            <a:r>
              <a:rPr lang="en-US" sz="2000">
                <a:ea typeface="+mn-lt"/>
                <a:cs typeface="+mn-lt"/>
              </a:rPr>
              <a:t>This system should be able to handle user input efficiently, manage questions, calculate scores accurately, and present results in an easy-to-understand format — all within a console-based environment.</a:t>
            </a:r>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SYSTEM REQUIREMENTS </a:t>
            </a:r>
            <a:endParaRPr lang="en-US"/>
          </a:p>
          <a:p>
            <a:endParaRPr lang="en-US" dirty="0">
              <a:solidFill>
                <a:srgbClr val="002060"/>
              </a:solidFill>
            </a:endParaRPr>
          </a:p>
        </p:txBody>
      </p:sp>
      <p:sp>
        <p:nvSpPr>
          <p:cNvPr id="3" name="Content Placeholder 2"/>
          <p:cNvSpPr>
            <a:spLocks noGrp="1"/>
          </p:cNvSpPr>
          <p:nvPr>
            <p:ph idx="1"/>
          </p:nvPr>
        </p:nvSpPr>
        <p:spPr>
          <a:xfrm>
            <a:off x="677334" y="1574436"/>
            <a:ext cx="9499344" cy="5275818"/>
          </a:xfrm>
        </p:spPr>
        <p:txBody>
          <a:bodyPr vert="horz" lIns="91440" tIns="45720" rIns="91440" bIns="45720" rtlCol="0" anchor="t">
            <a:normAutofit lnSpcReduction="10000"/>
          </a:bodyPr>
          <a:lstStyle/>
          <a:p>
            <a:r>
              <a:rPr lang="en-US" dirty="0">
                <a:ea typeface="+mn-lt"/>
                <a:cs typeface="+mn-lt"/>
              </a:rPr>
              <a:t>The Online Quiz System is a console-based application developed using the C programming language. It requires minimal hardware and software resources to run efficiently.</a:t>
            </a:r>
            <a:endParaRPr lang="en-US" dirty="0"/>
          </a:p>
          <a:p>
            <a:r>
              <a:rPr lang="en-US" dirty="0">
                <a:ea typeface="+mn-lt"/>
                <a:cs typeface="+mn-lt"/>
              </a:rPr>
              <a:t>🖥 1. Hardware Requirements</a:t>
            </a:r>
            <a:endParaRPr lang="en-US" dirty="0"/>
          </a:p>
          <a:p>
            <a:r>
              <a:rPr lang="en-US" dirty="0">
                <a:ea typeface="+mn-lt"/>
                <a:cs typeface="+mn-lt"/>
              </a:rPr>
              <a:t>Processor: Intel Pentium or higher</a:t>
            </a:r>
            <a:endParaRPr lang="en-US" dirty="0"/>
          </a:p>
          <a:p>
            <a:r>
              <a:rPr lang="en-US" dirty="0">
                <a:ea typeface="+mn-lt"/>
                <a:cs typeface="+mn-lt"/>
              </a:rPr>
              <a:t>RAM: Minimum 512 MB (1 GB recommended)</a:t>
            </a:r>
            <a:endParaRPr lang="en-US" dirty="0"/>
          </a:p>
          <a:p>
            <a:r>
              <a:rPr lang="en-US" dirty="0">
                <a:ea typeface="+mn-lt"/>
                <a:cs typeface="+mn-lt"/>
              </a:rPr>
              <a:t>Storage: At least 10 MB of free disk space</a:t>
            </a:r>
            <a:endParaRPr lang="en-US" dirty="0"/>
          </a:p>
          <a:p>
            <a:r>
              <a:rPr lang="en-US" dirty="0">
                <a:ea typeface="+mn-lt"/>
                <a:cs typeface="+mn-lt"/>
              </a:rPr>
              <a:t>Display: Standard text-based console display</a:t>
            </a:r>
            <a:endParaRPr lang="en-US" dirty="0"/>
          </a:p>
          <a:p>
            <a:r>
              <a:rPr lang="en-US" dirty="0">
                <a:ea typeface="+mn-lt"/>
                <a:cs typeface="+mn-lt"/>
              </a:rPr>
              <a:t>Input Devices: Keyboard (for answering questions and navigation)</a:t>
            </a:r>
            <a:endParaRPr lang="en-US" dirty="0"/>
          </a:p>
          <a:p>
            <a:endParaRPr lang="en-US" dirty="0">
              <a:ea typeface="+mn-lt"/>
              <a:cs typeface="+mn-lt"/>
            </a:endParaRPr>
          </a:p>
          <a:p>
            <a:r>
              <a:rPr lang="en-US" dirty="0">
                <a:ea typeface="+mn-lt"/>
                <a:cs typeface="+mn-lt"/>
              </a:rPr>
              <a:t>💽 2. Software Requirements</a:t>
            </a:r>
            <a:endParaRPr lang="en-US" dirty="0"/>
          </a:p>
          <a:p>
            <a:r>
              <a:rPr lang="en-US" dirty="0">
                <a:ea typeface="+mn-lt"/>
                <a:cs typeface="+mn-lt"/>
              </a:rPr>
              <a:t>Operating System: Windows / Linux / macOS (any OS supporting GCC or Turbo C)</a:t>
            </a:r>
            <a:endParaRPr lang="en-US" dirty="0"/>
          </a:p>
          <a:p>
            <a:r>
              <a:rPr lang="en-US" dirty="0">
                <a:ea typeface="+mn-lt"/>
                <a:cs typeface="+mn-lt"/>
              </a:rPr>
              <a:t>Compiler: GCC Compiler / Turbo C / Code::Blocks / Dev C++</a:t>
            </a:r>
            <a:endParaRPr lang="en-US" dirty="0"/>
          </a:p>
          <a:p>
            <a:r>
              <a:rPr lang="en-US" dirty="0">
                <a:ea typeface="+mn-lt"/>
                <a:cs typeface="+mn-lt"/>
              </a:rPr>
              <a:t>Editor: Any text editor (e.g., Notepad++, VS Code, Code::Blocks IDE)</a:t>
            </a:r>
            <a:endParaRPr lang="en-US" dirty="0"/>
          </a:p>
          <a:p>
            <a:endParaRPr lang="en-US" dirty="0"/>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SYSTEM DESIGN </a:t>
            </a:r>
            <a:endParaRPr lang="en-US">
              <a:solidFill>
                <a:srgbClr val="002060"/>
              </a:solidFill>
            </a:endParaRPr>
          </a:p>
          <a:p>
            <a:endParaRPr lang="en-US"/>
          </a:p>
        </p:txBody>
      </p:sp>
      <p:sp>
        <p:nvSpPr>
          <p:cNvPr id="3" name="Content Placeholder 2"/>
          <p:cNvSpPr>
            <a:spLocks noGrp="1"/>
          </p:cNvSpPr>
          <p:nvPr>
            <p:ph idx="1"/>
          </p:nvPr>
        </p:nvSpPr>
        <p:spPr>
          <a:xfrm>
            <a:off x="677334" y="1468928"/>
            <a:ext cx="9768975" cy="5381326"/>
          </a:xfrm>
        </p:spPr>
        <p:txBody>
          <a:bodyPr vert="horz" lIns="91440" tIns="45720" rIns="91440" bIns="45720" rtlCol="0" anchor="t">
            <a:normAutofit/>
          </a:bodyPr>
          <a:lstStyle/>
          <a:p>
            <a:r>
              <a:rPr lang="en-US" dirty="0">
                <a:ea typeface="+mn-lt"/>
                <a:cs typeface="+mn-lt"/>
              </a:rPr>
              <a:t>The Online Quiz System is a </a:t>
            </a:r>
            <a:r>
              <a:rPr lang="en-US" b="1" dirty="0">
                <a:ea typeface="+mn-lt"/>
                <a:cs typeface="+mn-lt"/>
              </a:rPr>
              <a:t>console-based C program</a:t>
            </a:r>
            <a:r>
              <a:rPr lang="en-US" dirty="0">
                <a:ea typeface="+mn-lt"/>
                <a:cs typeface="+mn-lt"/>
              </a:rPr>
              <a:t> that provides an interactive platform for users to participate in quizzes. It uses a </a:t>
            </a:r>
            <a:r>
              <a:rPr lang="en-US" b="1" dirty="0">
                <a:ea typeface="+mn-lt"/>
                <a:cs typeface="+mn-lt"/>
              </a:rPr>
              <a:t>modular design</a:t>
            </a:r>
            <a:r>
              <a:rPr lang="en-US" dirty="0">
                <a:ea typeface="+mn-lt"/>
                <a:cs typeface="+mn-lt"/>
              </a:rPr>
              <a:t>, where each function handles a specific task such as </a:t>
            </a:r>
            <a:r>
              <a:rPr lang="en-US" b="1" dirty="0">
                <a:ea typeface="+mn-lt"/>
                <a:cs typeface="+mn-lt"/>
              </a:rPr>
              <a:t>user authentication</a:t>
            </a:r>
            <a:r>
              <a:rPr lang="en-US" dirty="0">
                <a:ea typeface="+mn-lt"/>
                <a:cs typeface="+mn-lt"/>
              </a:rPr>
              <a:t>, </a:t>
            </a:r>
            <a:r>
              <a:rPr lang="en-US" b="1" dirty="0">
                <a:ea typeface="+mn-lt"/>
                <a:cs typeface="+mn-lt"/>
              </a:rPr>
              <a:t>question management</a:t>
            </a:r>
            <a:r>
              <a:rPr lang="en-US" dirty="0">
                <a:ea typeface="+mn-lt"/>
                <a:cs typeface="+mn-lt"/>
              </a:rPr>
              <a:t>, </a:t>
            </a:r>
            <a:r>
              <a:rPr lang="en-US" b="1" dirty="0">
                <a:ea typeface="+mn-lt"/>
                <a:cs typeface="+mn-lt"/>
              </a:rPr>
              <a:t>scoring</a:t>
            </a:r>
            <a:r>
              <a:rPr lang="en-US" dirty="0">
                <a:ea typeface="+mn-lt"/>
                <a:cs typeface="+mn-lt"/>
              </a:rPr>
              <a:t>, and </a:t>
            </a:r>
            <a:r>
              <a:rPr lang="en-US" b="1" dirty="0">
                <a:ea typeface="+mn-lt"/>
                <a:cs typeface="+mn-lt"/>
              </a:rPr>
              <a:t>result display</a:t>
            </a:r>
            <a:r>
              <a:rPr lang="en-US" dirty="0">
                <a:ea typeface="+mn-lt"/>
                <a:cs typeface="+mn-lt"/>
              </a:rPr>
              <a:t>.</a:t>
            </a:r>
            <a:endParaRPr lang="en-US" dirty="0">
              <a:ea typeface="+mn-lt"/>
              <a:cs typeface="+mn-lt"/>
            </a:endParaRPr>
          </a:p>
          <a:p>
            <a:endParaRPr lang="en-US" dirty="0">
              <a:ea typeface="+mn-lt"/>
              <a:cs typeface="+mn-lt"/>
            </a:endParaRPr>
          </a:p>
          <a:p>
            <a:pPr marL="0" indent="0">
              <a:buNone/>
            </a:pPr>
            <a:r>
              <a:rPr lang="en-US">
                <a:ea typeface="+mn-lt"/>
                <a:cs typeface="+mn-lt"/>
              </a:rPr>
              <a:t>   🔹 </a:t>
            </a:r>
            <a:r>
              <a:rPr lang="en-US" b="1"/>
              <a:t>System </a:t>
            </a:r>
            <a:r>
              <a:rPr lang="en-US" b="1" dirty="0"/>
              <a:t>Architecture</a:t>
            </a:r>
            <a:endParaRPr lang="en-US" b="1" dirty="0"/>
          </a:p>
          <a:p>
            <a:r>
              <a:rPr lang="en-US">
                <a:ea typeface="+mn-lt"/>
                <a:cs typeface="+mn-lt"/>
              </a:rPr>
              <a:t>The architecture consists of key modules:</a:t>
            </a:r>
            <a:endParaRPr lang="en-US" dirty="0">
              <a:ea typeface="+mn-lt"/>
              <a:cs typeface="+mn-lt"/>
            </a:endParaRPr>
          </a:p>
          <a:p>
            <a:r>
              <a:rPr lang="en-US" b="1" dirty="0">
                <a:ea typeface="+mn-lt"/>
                <a:cs typeface="+mn-lt"/>
              </a:rPr>
              <a:t>User Module</a:t>
            </a:r>
            <a:r>
              <a:rPr lang="en-US" dirty="0">
                <a:ea typeface="+mn-lt"/>
                <a:cs typeface="+mn-lt"/>
              </a:rPr>
              <a:t> – Handles registration and login</a:t>
            </a:r>
            <a:endParaRPr lang="en-US" dirty="0"/>
          </a:p>
          <a:p>
            <a:r>
              <a:rPr lang="en-US" b="1" dirty="0">
                <a:ea typeface="+mn-lt"/>
                <a:cs typeface="+mn-lt"/>
              </a:rPr>
              <a:t>Quiz Module</a:t>
            </a:r>
            <a:r>
              <a:rPr lang="en-US" dirty="0">
                <a:ea typeface="+mn-lt"/>
                <a:cs typeface="+mn-lt"/>
              </a:rPr>
              <a:t> – Manages questions and quiz flow</a:t>
            </a:r>
            <a:endParaRPr lang="en-US" dirty="0"/>
          </a:p>
          <a:p>
            <a:r>
              <a:rPr lang="en-US" b="1" dirty="0">
                <a:ea typeface="+mn-lt"/>
                <a:cs typeface="+mn-lt"/>
              </a:rPr>
              <a:t>Result Module</a:t>
            </a:r>
            <a:r>
              <a:rPr lang="en-US" dirty="0">
                <a:ea typeface="+mn-lt"/>
                <a:cs typeface="+mn-lt"/>
              </a:rPr>
              <a:t> – Calculates and displays scores</a:t>
            </a:r>
            <a:endParaRPr lang="en-US" dirty="0"/>
          </a:p>
          <a:p>
            <a:r>
              <a:rPr lang="en-US" dirty="0">
                <a:ea typeface="+mn-lt"/>
                <a:cs typeface="+mn-lt"/>
              </a:rPr>
              <a:t> </a:t>
            </a:r>
            <a:r>
              <a:rPr lang="en-US" b="1">
                <a:ea typeface="+mn-lt"/>
                <a:cs typeface="+mn-lt"/>
              </a:rPr>
              <a:t>File Handling Module (optional) - </a:t>
            </a:r>
            <a:r>
              <a:rPr lang="en-US">
                <a:ea typeface="+mn-lt"/>
                <a:cs typeface="+mn-lt"/>
              </a:rPr>
              <a:t>Used to store user data, quiz results, or to load questions dynamically from a file.</a:t>
            </a:r>
            <a:endParaRPr lang="en-US">
              <a:solidFill>
                <a:srgbClr val="000000"/>
              </a:solidFill>
              <a:ea typeface="+mn-lt"/>
              <a:cs typeface="+mn-lt"/>
            </a:endParaRPr>
          </a:p>
          <a:p>
            <a:endParaRPr lang="en-US" b="1" dirty="0"/>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MODULE DESCRIPTION</a:t>
            </a:r>
            <a:r>
              <a:rPr lang="en-US" dirty="0">
                <a:ea typeface="+mj-lt"/>
                <a:cs typeface="+mj-lt"/>
              </a:rPr>
              <a:t> </a:t>
            </a:r>
            <a:endParaRPr lang="en-US" dirty="0"/>
          </a:p>
          <a:p>
            <a:endParaRPr lang="en-US"/>
          </a:p>
          <a:p>
            <a:endParaRPr lang="en-US"/>
          </a:p>
        </p:txBody>
      </p:sp>
      <p:sp>
        <p:nvSpPr>
          <p:cNvPr id="3" name="Content Placeholder 2"/>
          <p:cNvSpPr>
            <a:spLocks noGrp="1"/>
          </p:cNvSpPr>
          <p:nvPr>
            <p:ph idx="1"/>
          </p:nvPr>
        </p:nvSpPr>
        <p:spPr>
          <a:xfrm>
            <a:off x="677334" y="1515820"/>
            <a:ext cx="9909652" cy="5346156"/>
          </a:xfrm>
        </p:spPr>
        <p:txBody>
          <a:bodyPr vert="horz" lIns="91440" tIns="45720" rIns="91440" bIns="45720" rtlCol="0" anchor="t">
            <a:normAutofit fontScale="92500" lnSpcReduction="10000"/>
          </a:bodyPr>
          <a:lstStyle/>
          <a:p>
            <a:r>
              <a:rPr lang="en-US">
                <a:ea typeface="+mn-lt"/>
                <a:cs typeface="+mn-lt"/>
              </a:rPr>
              <a:t>Login Module (Optional):</a:t>
            </a:r>
            <a:endParaRPr lang="en-US"/>
          </a:p>
          <a:p>
            <a:pPr marL="0" indent="0">
              <a:buNone/>
            </a:pPr>
            <a:r>
              <a:rPr lang="en-US">
                <a:ea typeface="+mn-lt"/>
                <a:cs typeface="+mn-lt"/>
              </a:rPr>
              <a:t>      Authenticates the user before starting the quiz using a username and password.</a:t>
            </a:r>
            <a:endParaRPr lang="en-US"/>
          </a:p>
          <a:p>
            <a:r>
              <a:rPr lang="en-US">
                <a:ea typeface="+mn-lt"/>
                <a:cs typeface="+mn-lt"/>
              </a:rPr>
              <a:t>Question Bank Module:</a:t>
            </a:r>
            <a:endParaRPr lang="en-US"/>
          </a:p>
          <a:p>
            <a:pPr marL="0" indent="0">
              <a:buNone/>
            </a:pPr>
            <a:r>
              <a:rPr lang="en-US">
                <a:ea typeface="+mn-lt"/>
                <a:cs typeface="+mn-lt"/>
              </a:rPr>
              <a:t>     Stores quiz questions, options, and correct answers (from arrays or files).</a:t>
            </a:r>
            <a:endParaRPr lang="en-US"/>
          </a:p>
          <a:p>
            <a:r>
              <a:rPr lang="en-US">
                <a:ea typeface="+mn-lt"/>
                <a:cs typeface="+mn-lt"/>
              </a:rPr>
              <a:t> Quiz Controller Module:</a:t>
            </a:r>
            <a:endParaRPr lang="en-US"/>
          </a:p>
          <a:p>
            <a:pPr marL="0" indent="0">
              <a:buNone/>
            </a:pPr>
            <a:r>
              <a:rPr lang="en-US">
                <a:ea typeface="+mn-lt"/>
                <a:cs typeface="+mn-lt"/>
              </a:rPr>
              <a:t>      Manages quiz flow — displays questions, accepts answers, and tracks progress.</a:t>
            </a:r>
            <a:endParaRPr lang="en-US"/>
          </a:p>
          <a:p>
            <a:r>
              <a:rPr lang="en-US">
                <a:ea typeface="+mn-lt"/>
                <a:cs typeface="+mn-lt"/>
              </a:rPr>
              <a:t> Evaluation Module:</a:t>
            </a:r>
            <a:endParaRPr lang="en-US"/>
          </a:p>
          <a:p>
            <a:pPr marL="0" indent="0">
              <a:buNone/>
            </a:pPr>
            <a:r>
              <a:rPr lang="en-US">
                <a:ea typeface="+mn-lt"/>
                <a:cs typeface="+mn-lt"/>
              </a:rPr>
              <a:t>      Checks user answers, compares them with correct answers, and updates the score.</a:t>
            </a:r>
            <a:endParaRPr lang="en-US"/>
          </a:p>
          <a:p>
            <a:r>
              <a:rPr lang="en-US">
                <a:ea typeface="+mn-lt"/>
                <a:cs typeface="+mn-lt"/>
              </a:rPr>
              <a:t>Result Module:</a:t>
            </a:r>
            <a:endParaRPr lang="en-US"/>
          </a:p>
          <a:p>
            <a:pPr marL="0" indent="0">
              <a:buNone/>
            </a:pPr>
            <a:r>
              <a:rPr lang="en-US">
                <a:ea typeface="+mn-lt"/>
                <a:cs typeface="+mn-lt"/>
              </a:rPr>
              <a:t>      Displays the total score, percentage, and feedback after quiz completion.</a:t>
            </a:r>
            <a:endParaRPr lang="en-US"/>
          </a:p>
          <a:p>
            <a:r>
              <a:rPr lang="en-US">
                <a:ea typeface="+mn-lt"/>
                <a:cs typeface="+mn-lt"/>
              </a:rPr>
              <a:t> File Handling Module (Optional):</a:t>
            </a:r>
            <a:endParaRPr lang="en-US"/>
          </a:p>
          <a:p>
            <a:pPr marL="0" indent="0">
              <a:buNone/>
            </a:pPr>
            <a:r>
              <a:rPr lang="en-US">
                <a:ea typeface="+mn-lt"/>
                <a:cs typeface="+mn-lt"/>
              </a:rPr>
              <a:t>      Saves or loads quiz data and results from files for future use.</a:t>
            </a:r>
            <a:endParaRPr lang="en-US"/>
          </a:p>
          <a:p>
            <a:r>
              <a:rPr lang="en-US">
                <a:ea typeface="+mn-lt"/>
                <a:cs typeface="+mn-lt"/>
              </a:rPr>
              <a:t> Main Control Module:</a:t>
            </a:r>
            <a:endParaRPr lang="en-US">
              <a:ea typeface="+mn-lt"/>
              <a:cs typeface="+mn-lt"/>
            </a:endParaRPr>
          </a:p>
          <a:p>
            <a:pPr marL="0" indent="0">
              <a:buNone/>
            </a:pPr>
            <a:r>
              <a:rPr lang="en-US">
                <a:ea typeface="+mn-lt"/>
                <a:cs typeface="+mn-lt"/>
              </a:rPr>
              <a:t>      Controls the overall execution and coordinates all other modules.</a:t>
            </a:r>
            <a:endParaRPr 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rPr>
              <a:t>ALGORITHM</a:t>
            </a:r>
            <a:endParaRPr lang="en-US">
              <a:solidFill>
                <a:srgbClr val="002060"/>
              </a:solidFill>
            </a:endParaRPr>
          </a:p>
        </p:txBody>
      </p:sp>
      <p:sp>
        <p:nvSpPr>
          <p:cNvPr id="3" name="Content Placeholder 2"/>
          <p:cNvSpPr>
            <a:spLocks noGrp="1"/>
          </p:cNvSpPr>
          <p:nvPr>
            <p:ph idx="1"/>
          </p:nvPr>
        </p:nvSpPr>
        <p:spPr/>
        <p:txBody>
          <a:bodyPr vert="horz" lIns="91440" tIns="45720" rIns="91440" bIns="45720" rtlCol="0" anchor="t">
            <a:normAutofit lnSpcReduction="10000"/>
          </a:bodyPr>
          <a:lstStyle/>
          <a:p>
            <a:pPr marL="0" indent="0">
              <a:buNone/>
            </a:pPr>
            <a:r>
              <a:rPr lang="en-US">
                <a:ea typeface="+mn-lt"/>
                <a:cs typeface="+mn-lt"/>
              </a:rPr>
              <a:t>    1. Start the program.</a:t>
            </a:r>
            <a:endParaRPr lang="en-US"/>
          </a:p>
          <a:p>
            <a:pPr marL="0" indent="0">
              <a:buNone/>
            </a:pPr>
            <a:r>
              <a:rPr lang="en-US">
                <a:ea typeface="+mn-lt"/>
                <a:cs typeface="+mn-lt"/>
              </a:rPr>
              <a:t>    2. Display welcome message and instructions.</a:t>
            </a:r>
            <a:endParaRPr lang="en-US">
              <a:ea typeface="+mn-lt"/>
              <a:cs typeface="+mn-lt"/>
            </a:endParaRPr>
          </a:p>
          <a:p>
            <a:pPr marL="0" indent="0">
              <a:buNone/>
            </a:pPr>
            <a:r>
              <a:rPr lang="en-US">
                <a:ea typeface="+mn-lt"/>
                <a:cs typeface="+mn-lt"/>
              </a:rPr>
              <a:t>    3. (Optional) Login the user.</a:t>
            </a:r>
            <a:endParaRPr lang="en-US"/>
          </a:p>
          <a:p>
            <a:pPr marL="0" indent="0">
              <a:buNone/>
            </a:pPr>
            <a:r>
              <a:rPr lang="en-US">
                <a:ea typeface="+mn-lt"/>
                <a:cs typeface="+mn-lt"/>
              </a:rPr>
              <a:t>    4. Initialize score = 0.</a:t>
            </a:r>
            <a:endParaRPr lang="en-US"/>
          </a:p>
          <a:p>
            <a:pPr marL="0" indent="0">
              <a:buNone/>
            </a:pPr>
            <a:r>
              <a:rPr lang="en-US">
                <a:ea typeface="+mn-lt"/>
                <a:cs typeface="+mn-lt"/>
              </a:rPr>
              <a:t>    5. For each question:</a:t>
            </a:r>
            <a:endParaRPr lang="en-US"/>
          </a:p>
          <a:p>
            <a:pPr marL="0" indent="0">
              <a:buNone/>
            </a:pPr>
            <a:r>
              <a:rPr lang="en-US">
                <a:ea typeface="+mn-lt"/>
                <a:cs typeface="+mn-lt"/>
              </a:rPr>
              <a:t>           a. Display question and options.</a:t>
            </a:r>
            <a:endParaRPr lang="en-US"/>
          </a:p>
          <a:p>
            <a:pPr marL="0" indent="0">
              <a:buNone/>
            </a:pPr>
            <a:r>
              <a:rPr lang="en-US">
                <a:ea typeface="+mn-lt"/>
                <a:cs typeface="+mn-lt"/>
              </a:rPr>
              <a:t>           b. Get user answer.</a:t>
            </a:r>
            <a:endParaRPr lang="en-US"/>
          </a:p>
          <a:p>
            <a:pPr marL="0" indent="0">
              <a:buNone/>
            </a:pPr>
            <a:r>
              <a:rPr lang="en-US">
                <a:ea typeface="+mn-lt"/>
                <a:cs typeface="+mn-lt"/>
              </a:rPr>
              <a:t>           c. If correct → score++.</a:t>
            </a:r>
            <a:endParaRPr lang="en-US"/>
          </a:p>
          <a:p>
            <a:pPr marL="0" indent="0">
              <a:buNone/>
            </a:pPr>
            <a:r>
              <a:rPr lang="en-US">
                <a:ea typeface="+mn-lt"/>
                <a:cs typeface="+mn-lt"/>
              </a:rPr>
              <a:t>     6. After all questions, display total score and feedback.</a:t>
            </a:r>
            <a:endParaRPr lang="en-US"/>
          </a:p>
          <a:p>
            <a:pPr marL="0" indent="0">
              <a:buNone/>
            </a:pPr>
            <a:r>
              <a:rPr lang="en-US">
                <a:ea typeface="+mn-lt"/>
                <a:cs typeface="+mn-lt"/>
              </a:rPr>
              <a:t>     7. End the program.</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IMPLEMENTATION </a:t>
            </a:r>
            <a:endParaRPr lang="en-US">
              <a:solidFill>
                <a:srgbClr val="002060"/>
              </a:solidFill>
            </a:endParaRPr>
          </a:p>
          <a:p>
            <a:endParaRPr lang="en-US"/>
          </a:p>
        </p:txBody>
      </p:sp>
      <p:sp>
        <p:nvSpPr>
          <p:cNvPr id="3" name="Content Placeholder 2"/>
          <p:cNvSpPr>
            <a:spLocks noGrp="1"/>
          </p:cNvSpPr>
          <p:nvPr>
            <p:ph idx="1"/>
          </p:nvPr>
        </p:nvSpPr>
        <p:spPr>
          <a:xfrm>
            <a:off x="677334" y="1477031"/>
            <a:ext cx="9369873" cy="5068595"/>
          </a:xfrm>
        </p:spPr>
        <p:txBody>
          <a:bodyPr vert="horz" lIns="91440" tIns="45720" rIns="91440" bIns="45720" rtlCol="0" anchor="t">
            <a:normAutofit fontScale="85000" lnSpcReduction="20000"/>
          </a:bodyPr>
          <a:lstStyle/>
          <a:p>
            <a:r>
              <a:rPr lang="en-US">
                <a:ea typeface="+mn-lt"/>
                <a:cs typeface="+mn-lt"/>
              </a:rPr>
              <a:t>The Online Quiz System is implemented using the C programming language in a console-based environment. The program uses basic C concepts such as functions, arrays, control structures, and file handling (optional).</a:t>
            </a:r>
            <a:endParaRPr lang="en-US"/>
          </a:p>
          <a:p>
            <a:pPr marL="0" indent="0">
              <a:buNone/>
            </a:pPr>
            <a:r>
              <a:rPr lang="en-US">
                <a:ea typeface="+mn-lt"/>
                <a:cs typeface="+mn-lt"/>
              </a:rPr>
              <a:t>   🔹 Implementation Steps:</a:t>
            </a:r>
            <a:endParaRPr lang="en-US" dirty="0"/>
          </a:p>
          <a:p>
            <a:r>
              <a:rPr lang="en-US">
                <a:ea typeface="+mn-lt"/>
                <a:cs typeface="+mn-lt"/>
              </a:rPr>
              <a:t>1. Define Question Structure:</a:t>
            </a:r>
            <a:endParaRPr lang="en-US"/>
          </a:p>
          <a:p>
            <a:r>
              <a:rPr lang="en-US" dirty="0">
                <a:ea typeface="+mn-lt"/>
                <a:cs typeface="+mn-lt"/>
              </a:rPr>
              <a:t>Create a structure or arrays to store questions, options, and correct answers.</a:t>
            </a:r>
            <a:endParaRPr lang="en-US" dirty="0"/>
          </a:p>
          <a:p>
            <a:r>
              <a:rPr lang="en-US">
                <a:ea typeface="+mn-lt"/>
                <a:cs typeface="+mn-lt"/>
              </a:rPr>
              <a:t>2. Develop Functions:</a:t>
            </a:r>
            <a:endParaRPr lang="en-US"/>
          </a:p>
          <a:p>
            <a:r>
              <a:rPr lang="en-US" dirty="0">
                <a:ea typeface="+mn-lt"/>
                <a:cs typeface="+mn-lt"/>
              </a:rPr>
              <a:t>displayQuestion() – shows each question and options.</a:t>
            </a:r>
            <a:endParaRPr lang="en-US" dirty="0"/>
          </a:p>
          <a:p>
            <a:r>
              <a:rPr lang="en-US" dirty="0">
                <a:ea typeface="+mn-lt"/>
                <a:cs typeface="+mn-lt"/>
              </a:rPr>
              <a:t>checkAnswer() – compares user input with the correct answer.</a:t>
            </a:r>
            <a:endParaRPr lang="en-US" dirty="0"/>
          </a:p>
          <a:p>
            <a:r>
              <a:rPr lang="en-US" dirty="0">
                <a:ea typeface="+mn-lt"/>
                <a:cs typeface="+mn-lt"/>
              </a:rPr>
              <a:t>calculateScore() – maintains and calculates the total score.</a:t>
            </a:r>
            <a:endParaRPr lang="en-US" dirty="0"/>
          </a:p>
          <a:p>
            <a:r>
              <a:rPr lang="en-US">
                <a:ea typeface="+mn-lt"/>
                <a:cs typeface="+mn-lt"/>
              </a:rPr>
              <a:t>displayResult() – shows the user’s performance.</a:t>
            </a:r>
            <a:endParaRPr lang="en-US">
              <a:ea typeface="+mn-lt"/>
              <a:cs typeface="+mn-lt"/>
            </a:endParaRPr>
          </a:p>
          <a:p>
            <a:r>
              <a:rPr lang="en-US">
                <a:ea typeface="+mn-lt"/>
                <a:cs typeface="+mn-lt"/>
              </a:rPr>
              <a:t>3. Main Function:</a:t>
            </a:r>
            <a:endParaRPr lang="en-US" dirty="0"/>
          </a:p>
          <a:p>
            <a:r>
              <a:rPr lang="en-US">
                <a:ea typeface="+mn-lt"/>
                <a:cs typeface="+mn-lt"/>
              </a:rPr>
              <a:t>Controls the quiz flow — displays welcome message, calls other functions, and shows final results.</a:t>
            </a:r>
            <a:endParaRPr lang="en-US"/>
          </a:p>
          <a:p>
            <a:r>
              <a:rPr lang="en-US">
                <a:ea typeface="+mn-lt"/>
                <a:cs typeface="+mn-lt"/>
              </a:rPr>
              <a:t>4. Optional File Handling:</a:t>
            </a:r>
            <a:endParaRPr lang="en-US"/>
          </a:p>
          <a:p>
            <a:r>
              <a:rPr lang="en-US">
                <a:ea typeface="+mn-lt"/>
                <a:cs typeface="+mn-lt"/>
              </a:rPr>
              <a:t>Load questions or save user results to a file using file I/O operations.</a:t>
            </a:r>
            <a:endParaRPr lang="en-US"/>
          </a:p>
          <a:p>
            <a:r>
              <a:rPr lang="en-US">
                <a:ea typeface="+mn-lt"/>
                <a:cs typeface="+mn-lt"/>
              </a:rPr>
              <a:t>5. Testing:</a:t>
            </a:r>
            <a:endParaRPr lang="en-US"/>
          </a:p>
          <a:p>
            <a:r>
              <a:rPr lang="en-US">
                <a:ea typeface="+mn-lt"/>
                <a:cs typeface="+mn-lt"/>
              </a:rPr>
              <a:t>Run the program and verify correct question display, answer checking, and score calculation.</a:t>
            </a:r>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34950"/>
            <a:ext cx="8596313" cy="676275"/>
          </a:xfrm>
        </p:spPr>
        <p:txBody>
          <a:bodyPr/>
          <a:lstStyle/>
          <a:p>
            <a:r>
              <a:rPr lang="en-US">
                <a:solidFill>
                  <a:srgbClr val="002060"/>
                </a:solidFill>
                <a:ea typeface="+mj-lt"/>
                <a:cs typeface="+mj-lt"/>
              </a:rPr>
              <a:t>SOURCE CODE </a:t>
            </a:r>
            <a:endParaRPr lang="en-US">
              <a:solidFill>
                <a:srgbClr val="002060"/>
              </a:solidFill>
            </a:endParaRPr>
          </a:p>
          <a:p>
            <a:endParaRPr lang="en-US" dirty="0"/>
          </a:p>
        </p:txBody>
      </p:sp>
      <p:sp>
        <p:nvSpPr>
          <p:cNvPr id="3" name="Content Placeholder 2"/>
          <p:cNvSpPr>
            <a:spLocks noGrp="1"/>
          </p:cNvSpPr>
          <p:nvPr>
            <p:ph idx="4294967295"/>
          </p:nvPr>
        </p:nvSpPr>
        <p:spPr>
          <a:xfrm>
            <a:off x="0" y="906370"/>
            <a:ext cx="14235113" cy="16776138"/>
          </a:xfrm>
        </p:spPr>
        <p:txBody>
          <a:bodyPr vert="horz" lIns="91440" tIns="45720" rIns="91440" bIns="45720" rtlCol="0" anchor="t">
            <a:noAutofit/>
          </a:bodyPr>
          <a:lstStyle/>
          <a:p>
            <a:pPr>
              <a:buNone/>
            </a:pPr>
            <a:r>
              <a:rPr lang="en-US" altLang="en-US" sz="1100"/>
              <a:t>#include &lt;stdio.h&gt;</a:t>
            </a:r>
            <a:endParaRPr lang="en-US" altLang="en-US" sz="1100"/>
          </a:p>
          <a:p>
            <a:pPr>
              <a:buNone/>
            </a:pPr>
            <a:r>
              <a:rPr lang="en-US" altLang="en-US" sz="1100"/>
              <a:t>#include &lt;string.h&gt;</a:t>
            </a:r>
            <a:endParaRPr lang="en-US" altLang="en-US" sz="1100"/>
          </a:p>
          <a:p>
            <a:pPr>
              <a:buNone/>
            </a:pPr>
            <a:r>
              <a:rPr lang="en-US" altLang="en-US" sz="1100"/>
              <a:t>#include &lt;stdlib.h&gt;</a:t>
            </a:r>
            <a:endParaRPr lang="en-US" altLang="en-US" sz="1100"/>
          </a:p>
          <a:p>
            <a:pPr>
              <a:buNone/>
            </a:pPr>
            <a:endParaRPr lang="en-US" altLang="en-US" sz="1100"/>
          </a:p>
          <a:p>
            <a:pPr>
              <a:buNone/>
            </a:pPr>
            <a:r>
              <a:rPr lang="en-US" altLang="en-US" sz="1100"/>
              <a:t>int main() {</a:t>
            </a:r>
            <a:endParaRPr lang="en-US" altLang="en-US" sz="1100"/>
          </a:p>
          <a:p>
            <a:pPr>
              <a:buNone/>
            </a:pPr>
            <a:r>
              <a:rPr lang="en-US" altLang="en-US" sz="1100"/>
              <a:t>    char username[50], password[50];</a:t>
            </a:r>
            <a:endParaRPr lang="en-US" altLang="en-US" sz="1100"/>
          </a:p>
          <a:p>
            <a:pPr>
              <a:buNone/>
            </a:pPr>
            <a:r>
              <a:rPr lang="en-US" altLang="en-US" sz="1100"/>
              <a:t>    int score = 0, choice;</a:t>
            </a:r>
            <a:endParaRPr lang="en-US" altLang="en-US" sz="1100"/>
          </a:p>
          <a:p>
            <a:pPr>
              <a:buNone/>
            </a:pPr>
            <a:endParaRPr lang="en-US" altLang="en-US" sz="1100"/>
          </a:p>
          <a:p>
            <a:pPr>
              <a:buNone/>
            </a:pPr>
            <a:r>
              <a:rPr lang="en-US" altLang="en-US" sz="1100"/>
              <a:t>    // Login Page</a:t>
            </a:r>
            <a:endParaRPr lang="en-US" altLang="en-US" sz="1100"/>
          </a:p>
          <a:p>
            <a:pPr>
              <a:buNone/>
            </a:pPr>
            <a:r>
              <a:rPr lang="en-US" altLang="en-US" sz="1100"/>
              <a:t>    printf("=== Welcome to the Online Quiz System ===\n");</a:t>
            </a:r>
            <a:endParaRPr lang="en-US" altLang="en-US" sz="1100"/>
          </a:p>
          <a:p>
            <a:pPr>
              <a:buNone/>
            </a:pPr>
            <a:r>
              <a:rPr lang="en-US" altLang="en-US" sz="1100"/>
              <a:t>    printf("Username: ");</a:t>
            </a:r>
            <a:endParaRPr lang="en-US" altLang="en-US" sz="1100"/>
          </a:p>
          <a:p>
            <a:pPr>
              <a:buNone/>
            </a:pPr>
            <a:r>
              <a:rPr lang="en-US" altLang="en-US" sz="1100"/>
              <a:t>    scanf("%s", username);</a:t>
            </a:r>
            <a:endParaRPr lang="en-US" altLang="en-US" sz="1100"/>
          </a:p>
          <a:p>
            <a:pPr>
              <a:buNone/>
            </a:pPr>
            <a:r>
              <a:rPr lang="en-US" altLang="en-US" sz="1100"/>
              <a:t>    printf("Password: ");</a:t>
            </a:r>
            <a:endParaRPr lang="en-US" altLang="en-US" sz="1100"/>
          </a:p>
          <a:p>
            <a:pPr>
              <a:buNone/>
            </a:pPr>
            <a:r>
              <a:rPr lang="en-US" altLang="en-US" sz="1100"/>
              <a:t>    scanf("%s", password);</a:t>
            </a:r>
            <a:endParaRPr lang="en-US" altLang="en-US" sz="1100"/>
          </a:p>
          <a:p>
            <a:pPr>
              <a:buNone/>
            </a:pPr>
            <a:endParaRPr lang="en-US" altLang="en-US" sz="1100"/>
          </a:p>
          <a:p>
            <a:pPr>
              <a:buNone/>
            </a:pPr>
            <a:r>
              <a:rPr lang="en-US" altLang="en-US" sz="1100"/>
              <a:t>    // Authentication</a:t>
            </a:r>
            <a:endParaRPr lang="en-US" altLang="en-US" sz="1100"/>
          </a:p>
          <a:p>
            <a:pPr>
              <a:buNone/>
            </a:pPr>
            <a:r>
              <a:rPr lang="en-US" altLang="en-US" sz="1100"/>
              <a:t>    if (strcmp(username, "kgcas_student") == 0 &amp;&amp; strcmp(password, "1234") == 0) {</a:t>
            </a:r>
            <a:endParaRPr lang="en-US" altLang="en-US" sz="1100"/>
          </a:p>
          <a:p>
            <a:pPr>
              <a:buNone/>
            </a:pPr>
            <a:r>
              <a:rPr lang="en-US" altLang="en-US" sz="1100"/>
              <a:t>        printf("\nLogin Successful!\n\n");</a:t>
            </a:r>
            <a:endParaRPr lang="en-US" altLang="en-US" sz="1100"/>
          </a:p>
          <a:p>
            <a:pPr>
              <a:buNone/>
            </a:pPr>
            <a:r>
              <a:rPr lang="en-US" altLang="en-US" sz="1100"/>
              <a:t>    } else {</a:t>
            </a:r>
            <a:endParaRPr lang="en-US" altLang="en-US" sz="1100"/>
          </a:p>
          <a:p>
            <a:pPr>
              <a:buNone/>
            </a:pPr>
            <a:r>
              <a:rPr lang="en-US" altLang="en-US" sz="1100"/>
              <a:t>        printf("\nInvalid Username or Password. Access Denied.\n");</a:t>
            </a:r>
            <a:endParaRPr lang="en-US" altLang="en-US" sz="1100"/>
          </a:p>
          <a:p>
            <a:pPr>
              <a:buNone/>
            </a:pPr>
            <a:r>
              <a:rPr lang="en-US" altLang="en-US" sz="1100"/>
              <a:t>        return 0;</a:t>
            </a:r>
            <a:endParaRPr lang="en-US" altLang="en-US" sz="1100"/>
          </a:p>
          <a:p>
            <a:pPr>
              <a:buNone/>
            </a:pPr>
            <a:r>
              <a:rPr lang="en-US" altLang="en-US" sz="1100"/>
              <a:t>    }</a:t>
            </a:r>
            <a:endParaRPr lang="en-US" altLang="en-US" sz="1100"/>
          </a:p>
          <a:p>
            <a:pPr>
              <a:buNone/>
            </a:pPr>
            <a:endParaRPr lang="en-US" altLang="en-US" sz="1100"/>
          </a:p>
          <a:p>
            <a:pPr>
              <a:buNone/>
            </a:pPr>
            <a:r>
              <a:rPr lang="en-US" altLang="en-US" sz="1100"/>
              <a:t>    printf("===== QUIZ START =====\n\n");</a:t>
            </a:r>
            <a:endParaRPr lang="en-US" altLang="en-US" sz="1100"/>
          </a:p>
          <a:p>
            <a:pPr>
              <a:buNone/>
            </a:pPr>
            <a:endParaRPr lang="en-US" altLang="en-US" sz="1100"/>
          </a:p>
          <a:p>
            <a:pPr>
              <a:buNone/>
            </a:pPr>
            <a:r>
              <a:rPr lang="en-US" altLang="en-US" sz="1100"/>
              <a:t>    // Question 1</a:t>
            </a:r>
            <a:endParaRPr lang="en-US" altLang="en-US" sz="1100"/>
          </a:p>
          <a:p>
            <a:pPr>
              <a:buNone/>
            </a:pPr>
            <a:r>
              <a:rPr lang="en-US" altLang="en-US" sz="1100"/>
              <a:t>    printf("Q1. Which of the following is a valid C keyword?\n");</a:t>
            </a:r>
            <a:endParaRPr lang="en-US" altLang="en-US" sz="1100"/>
          </a:p>
          <a:p>
            <a:pPr>
              <a:buNone/>
            </a:pPr>
            <a:r>
              <a:rPr lang="en-US" altLang="en-US" sz="1100"/>
              <a:t>    printf("1. function\n2. integer\n3. typedef\n4. define\n");</a:t>
            </a:r>
            <a:endParaRPr lang="en-US" altLang="en-US" sz="1100"/>
          </a:p>
          <a:p>
            <a:pPr>
              <a:buNone/>
            </a:pPr>
            <a:r>
              <a:rPr lang="en-US" altLang="en-US" sz="1100"/>
              <a:t>    printf("Enter your choice: ");</a:t>
            </a:r>
            <a:endParaRPr lang="en-US" altLang="en-US" sz="1100"/>
          </a:p>
          <a:p>
            <a:pPr>
              <a:buNone/>
            </a:pPr>
            <a:r>
              <a:rPr lang="en-US" altLang="en-US" sz="1100"/>
              <a:t>    scanf("%d", &amp;choice);</a:t>
            </a:r>
            <a:endParaRPr lang="en-US" altLang="en-US" sz="1100"/>
          </a:p>
          <a:p>
            <a:pPr>
              <a:buNone/>
            </a:pPr>
            <a:r>
              <a:rPr lang="en-US" altLang="en-US" sz="1100"/>
              <a:t>    if (choice == 3) score++;</a:t>
            </a:r>
            <a:endParaRPr lang="en-US" altLang="en-US" sz="1100"/>
          </a:p>
          <a:p>
            <a:pPr>
              <a:buNone/>
            </a:pPr>
            <a:endParaRPr lang="en-US" altLang="en-US" sz="1100"/>
          </a:p>
          <a:p>
            <a:pPr>
              <a:buNone/>
            </a:pPr>
            <a:r>
              <a:rPr lang="en-US" altLang="en-US" sz="1100"/>
              <a:t>    // Question 2</a:t>
            </a:r>
            <a:endParaRPr lang="en-US" altLang="en-US" sz="1100"/>
          </a:p>
          <a:p>
            <a:pPr>
              <a:buNone/>
            </a:pPr>
            <a:r>
              <a:rPr lang="en-US" altLang="en-US" sz="1100"/>
              <a:t>    printf("\nQ2. What is the size of an int in C (on most 32-bit systems)?\n");</a:t>
            </a:r>
            <a:endParaRPr lang="en-US" altLang="en-US" sz="1100"/>
          </a:p>
          <a:p>
            <a:pPr>
              <a:buNone/>
            </a:pPr>
            <a:r>
              <a:rPr lang="en-US" altLang="en-US" sz="1100"/>
              <a:t>    printf("1. 2 bytes\n2. 4 bytes\n3. 8 bytes\n4. Depends on compiler\n");</a:t>
            </a:r>
            <a:endParaRPr lang="en-US" altLang="en-US" sz="1100"/>
          </a:p>
          <a:p>
            <a:pPr>
              <a:buNone/>
            </a:pPr>
            <a:r>
              <a:rPr lang="en-US" altLang="en-US" sz="1100"/>
              <a:t>    printf("Enter your choice: ");</a:t>
            </a:r>
            <a:endParaRPr lang="en-US" altLang="en-US" sz="1100"/>
          </a:p>
          <a:p>
            <a:pPr>
              <a:buNone/>
            </a:pPr>
            <a:r>
              <a:rPr lang="en-US" altLang="en-US" sz="1100"/>
              <a:t>    scanf("%d", &amp;choice);</a:t>
            </a:r>
            <a:endParaRPr lang="en-US" altLang="en-US" sz="1100"/>
          </a:p>
          <a:p>
            <a:pPr>
              <a:buNone/>
            </a:pPr>
            <a:r>
              <a:rPr lang="en-US" altLang="en-US" sz="1100"/>
              <a:t>    if (choice == 2) score++;</a:t>
            </a:r>
            <a:endParaRPr lang="en-US" altLang="en-US" sz="1100"/>
          </a:p>
          <a:p>
            <a:pPr>
              <a:buNone/>
            </a:pPr>
            <a:endParaRPr lang="en-US" altLang="en-US" sz="1100"/>
          </a:p>
          <a:p>
            <a:pPr>
              <a:buNone/>
            </a:pPr>
            <a:r>
              <a:rPr lang="en-US" altLang="en-US" sz="1100"/>
              <a:t>    // Question 3</a:t>
            </a:r>
            <a:endParaRPr lang="en-US" altLang="en-US" sz="1100"/>
          </a:p>
          <a:p>
            <a:pPr>
              <a:buNone/>
            </a:pPr>
            <a:r>
              <a:rPr lang="en-US" altLang="en-US" sz="1100"/>
              <a:t>    printf("\nQ3. Which symbol is used to denote a preprocessor directive in C?\n");</a:t>
            </a:r>
            <a:endParaRPr lang="en-US" altLang="en-US" sz="1100"/>
          </a:p>
          <a:p>
            <a:pPr>
              <a:buNone/>
            </a:pPr>
            <a:r>
              <a:rPr lang="en-US" altLang="en-US" sz="1100"/>
              <a:t>    printf("1. $\n2. #\n3. &amp;\n4. @\n");</a:t>
            </a:r>
            <a:endParaRPr lang="en-US" altLang="en-US" sz="1100"/>
          </a:p>
          <a:p>
            <a:pPr>
              <a:buNone/>
            </a:pPr>
            <a:r>
              <a:rPr lang="en-US" altLang="en-US" sz="1100"/>
              <a:t>    printf("Enter your choice: ");</a:t>
            </a:r>
            <a:endParaRPr lang="en-US" altLang="en-US" sz="1100"/>
          </a:p>
          <a:p>
            <a:pPr>
              <a:buNone/>
            </a:pPr>
            <a:r>
              <a:rPr lang="en-US" altLang="en-US" sz="1100"/>
              <a:t>    scanf("%d", &amp;choice);</a:t>
            </a:r>
            <a:endParaRPr lang="en-US" altLang="en-US" sz="1100"/>
          </a:p>
          <a:p>
            <a:pPr>
              <a:buNone/>
            </a:pPr>
            <a:r>
              <a:rPr lang="en-US" altLang="en-US" sz="1100"/>
              <a:t>    if (choice == 2) score++;</a:t>
            </a:r>
            <a:endParaRPr lang="en-US" altLang="en-US" sz="1100"/>
          </a:p>
          <a:p>
            <a:pPr>
              <a:buNone/>
            </a:pPr>
            <a:endParaRPr lang="en-US" altLang="en-US" sz="1100"/>
          </a:p>
          <a:p>
            <a:pPr>
              <a:buNone/>
            </a:pPr>
            <a:r>
              <a:rPr lang="en-US" altLang="en-US" sz="1100"/>
              <a:t>    // Question 4</a:t>
            </a:r>
            <a:endParaRPr lang="en-US" altLang="en-US" sz="1100"/>
          </a:p>
          <a:p>
            <a:pPr>
              <a:buNone/>
            </a:pPr>
            <a:r>
              <a:rPr lang="en-US" altLang="en-US" sz="1100"/>
              <a:t>    printf("\nQ4. What is the output of printf(\"%%d\", 10); ?\n");</a:t>
            </a:r>
            <a:endParaRPr lang="en-US" altLang="en-US" sz="1100"/>
          </a:p>
          <a:p>
            <a:pPr>
              <a:buNone/>
            </a:pPr>
            <a:r>
              <a:rPr lang="en-US" altLang="en-US" sz="1100"/>
              <a:t>    printf("1. %%d\n2. 10\n3. %%d\n4. Error\n");</a:t>
            </a:r>
            <a:endParaRPr lang="en-US" altLang="en-US" sz="1100"/>
          </a:p>
          <a:p>
            <a:pPr>
              <a:buNone/>
            </a:pPr>
            <a:r>
              <a:rPr lang="en-US" altLang="en-US" sz="1100"/>
              <a:t>    printf("Enter your choice: ");</a:t>
            </a:r>
            <a:endParaRPr lang="en-US" altLang="en-US" sz="1100"/>
          </a:p>
          <a:p>
            <a:pPr>
              <a:buNone/>
            </a:pPr>
            <a:r>
              <a:rPr lang="en-US" altLang="en-US" sz="1100"/>
              <a:t>    scanf("%d", &amp;choice);</a:t>
            </a:r>
            <a:endParaRPr lang="en-US" altLang="en-US" sz="1100"/>
          </a:p>
          <a:p>
            <a:pPr>
              <a:buNone/>
            </a:pPr>
            <a:r>
              <a:rPr lang="en-US" altLang="en-US" sz="1100"/>
              <a:t>    if (choice == 2) score++;</a:t>
            </a:r>
            <a:endParaRPr lang="en-US" altLang="en-US" sz="1100"/>
          </a:p>
          <a:p>
            <a:pPr>
              <a:buNone/>
            </a:pPr>
            <a:endParaRPr lang="en-US" altLang="en-US" sz="1100"/>
          </a:p>
          <a:p>
            <a:pPr>
              <a:buNone/>
            </a:pPr>
            <a:r>
              <a:rPr lang="en-US" altLang="en-US" sz="1100"/>
              <a:t>    // Question 5</a:t>
            </a:r>
            <a:endParaRPr lang="en-US" altLang="en-US" sz="1100"/>
          </a:p>
          <a:p>
            <a:pPr>
              <a:buNone/>
            </a:pPr>
            <a:r>
              <a:rPr lang="en-US" altLang="en-US" sz="1100"/>
              <a:t>    printf("\nQ5. Which of the following functions is used to read a string in C?\n");</a:t>
            </a:r>
            <a:endParaRPr lang="en-US" altLang="en-US" sz="1100"/>
          </a:p>
          <a:p>
            <a:pPr>
              <a:buNone/>
            </a:pPr>
            <a:r>
              <a:rPr lang="en-US" altLang="en-US" sz="1100"/>
              <a:t>    printf("1. scanf()\n2. gets()\n3. puts()\n4. printf()\n");</a:t>
            </a:r>
            <a:endParaRPr lang="en-US" altLang="en-US" sz="1100"/>
          </a:p>
          <a:p>
            <a:pPr>
              <a:buNone/>
            </a:pPr>
            <a:r>
              <a:rPr lang="en-US" altLang="en-US" sz="1100"/>
              <a:t>    printf("Enter your choice: ");</a:t>
            </a:r>
            <a:endParaRPr lang="en-US" altLang="en-US" sz="1100"/>
          </a:p>
          <a:p>
            <a:pPr>
              <a:buNone/>
            </a:pPr>
            <a:r>
              <a:rPr lang="en-US" altLang="en-US" sz="1100"/>
              <a:t>    scanf("%d", &amp;choice);</a:t>
            </a:r>
            <a:endParaRPr lang="en-US" altLang="en-US" sz="1100"/>
          </a:p>
          <a:p>
            <a:pPr>
              <a:buNone/>
            </a:pPr>
            <a:r>
              <a:rPr lang="en-US" altLang="en-US" sz="1100"/>
              <a:t>    if (choice == 2) score++;</a:t>
            </a:r>
            <a:endParaRPr lang="en-US" altLang="en-US" sz="1100"/>
          </a:p>
          <a:p>
            <a:pPr>
              <a:buNone/>
            </a:pPr>
            <a:endParaRPr lang="en-US" altLang="en-US" sz="1100"/>
          </a:p>
          <a:p>
            <a:pPr>
              <a:buNone/>
            </a:pPr>
            <a:r>
              <a:rPr lang="en-US" altLang="en-US" sz="1100"/>
              <a:t>    // Display Result</a:t>
            </a:r>
            <a:endParaRPr lang="en-US" altLang="en-US" sz="1100"/>
          </a:p>
          <a:p>
            <a:pPr>
              <a:buNone/>
            </a:pPr>
            <a:r>
              <a:rPr lang="en-US" altLang="en-US" sz="1100"/>
              <a:t>    printf("\n===== QUIZ COMPLETED =====\n");</a:t>
            </a:r>
            <a:endParaRPr lang="en-US" altLang="en-US" sz="1100"/>
          </a:p>
          <a:p>
            <a:pPr>
              <a:buNone/>
            </a:pPr>
            <a:r>
              <a:rPr lang="en-US" altLang="en-US" sz="1100"/>
              <a:t>    printf("Your Score: %d / 5\n", score);</a:t>
            </a:r>
            <a:endParaRPr lang="en-US" altLang="en-US" sz="1100"/>
          </a:p>
          <a:p>
            <a:pPr>
              <a:buNone/>
            </a:pPr>
            <a:endParaRPr lang="en-US" altLang="en-US" sz="1100"/>
          </a:p>
          <a:p>
            <a:pPr>
              <a:buNone/>
            </a:pPr>
            <a:r>
              <a:rPr lang="en-US" altLang="en-US" sz="1100"/>
              <a:t>    if (score == 5)</a:t>
            </a:r>
            <a:endParaRPr lang="en-US" altLang="en-US" sz="1100"/>
          </a:p>
          <a:p>
            <a:pPr>
              <a:buNone/>
            </a:pPr>
            <a:r>
              <a:rPr lang="en-US" altLang="en-US" sz="1100"/>
              <a:t>        printf("Excellent! You got all correct!\n");</a:t>
            </a:r>
            <a:endParaRPr lang="en-US" altLang="en-US" sz="1100"/>
          </a:p>
          <a:p>
            <a:pPr>
              <a:buNone/>
            </a:pPr>
            <a:r>
              <a:rPr lang="en-US" altLang="en-US" sz="1100"/>
              <a:t>    else if (score &gt;= 3)</a:t>
            </a:r>
            <a:endParaRPr lang="en-US" altLang="en-US" sz="1100"/>
          </a:p>
          <a:p>
            <a:pPr>
              <a:buNone/>
            </a:pPr>
            <a:r>
              <a:rPr lang="en-US" altLang="en-US" sz="1100"/>
              <a:t>        printf("Good job! You passed the quiz.\n");</a:t>
            </a:r>
            <a:endParaRPr lang="en-US" altLang="en-US" sz="1100"/>
          </a:p>
          <a:p>
            <a:pPr>
              <a:buNone/>
            </a:pPr>
            <a:r>
              <a:rPr lang="en-US" altLang="en-US" sz="1100"/>
              <a:t>    else</a:t>
            </a:r>
            <a:endParaRPr lang="en-US" altLang="en-US" sz="1100"/>
          </a:p>
          <a:p>
            <a:pPr>
              <a:buNone/>
            </a:pPr>
            <a:r>
              <a:rPr lang="en-US" altLang="en-US" sz="1100"/>
              <a:t>        printf("Better luck next time.\n");</a:t>
            </a:r>
            <a:endParaRPr lang="en-US" altLang="en-US" sz="1100"/>
          </a:p>
          <a:p>
            <a:pPr>
              <a:buNone/>
            </a:pPr>
            <a:endParaRPr lang="en-US" altLang="en-US" sz="1100"/>
          </a:p>
          <a:p>
            <a:pPr>
              <a:buNone/>
            </a:pPr>
            <a:r>
              <a:rPr lang="en-US" altLang="en-US" sz="1100"/>
              <a:t>    printf("\nThank you for participating!\n");</a:t>
            </a:r>
            <a:endParaRPr lang="en-US" altLang="en-US" sz="1100"/>
          </a:p>
          <a:p>
            <a:pPr>
              <a:buNone/>
            </a:pPr>
            <a:endParaRPr lang="en-US" altLang="en-US" sz="1100"/>
          </a:p>
          <a:p>
            <a:pPr>
              <a:buNone/>
            </a:pPr>
            <a:r>
              <a:rPr lang="en-US" altLang="en-US" sz="1100"/>
              <a:t>    return 0;</a:t>
            </a:r>
            <a:endParaRPr lang="en-US" altLang="en-US" sz="1100"/>
          </a:p>
          <a:p>
            <a:pPr>
              <a:buNone/>
            </a:pPr>
            <a:r>
              <a:rPr lang="en-US" altLang="en-US" sz="1100"/>
              <a:t>}</a:t>
            </a:r>
            <a:endParaRPr lang="en-US" altLang="en-US" sz="1100"/>
          </a:p>
          <a:p>
            <a:pPr>
              <a:buNone/>
            </a:pPr>
            <a:endParaRPr lang="en-US" alt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ea typeface="+mj-lt"/>
                <a:cs typeface="+mj-lt"/>
              </a:rPr>
              <a:t>PROGRAM EXPLANATION </a:t>
            </a:r>
            <a:endParaRPr lang="en-US">
              <a:solidFill>
                <a:srgbClr val="002060"/>
              </a:solidFill>
            </a:endParaRPr>
          </a:p>
          <a:p>
            <a:endParaRPr lang="en-US"/>
          </a:p>
          <a:p>
            <a:endParaRPr lang="en-US" dirty="0"/>
          </a:p>
        </p:txBody>
      </p:sp>
      <p:sp>
        <p:nvSpPr>
          <p:cNvPr id="3" name="Content Placeholder 2"/>
          <p:cNvSpPr>
            <a:spLocks noGrp="1"/>
          </p:cNvSpPr>
          <p:nvPr>
            <p:ph idx="1"/>
          </p:nvPr>
        </p:nvSpPr>
        <p:spPr>
          <a:xfrm>
            <a:off x="677334" y="1269636"/>
            <a:ext cx="10613037" cy="18187058"/>
          </a:xfrm>
        </p:spPr>
        <p:txBody>
          <a:bodyPr vert="horz" lIns="91440" tIns="45720" rIns="91440" bIns="45720" rtlCol="0" anchor="t">
            <a:normAutofit fontScale="62500" lnSpcReduction="20000"/>
          </a:bodyPr>
          <a:lstStyle/>
          <a:p>
            <a:pPr marL="0" indent="0">
              <a:buNone/>
            </a:pPr>
            <a:r>
              <a:rPr lang="en-US" dirty="0">
                <a:ea typeface="+mn-lt"/>
                <a:cs typeface="+mn-lt"/>
              </a:rPr>
              <a:t>⿡ Header Files</a:t>
            </a:r>
            <a:endParaRPr lang="en-US" dirty="0"/>
          </a:p>
          <a:p>
            <a:pPr marL="0" indent="0">
              <a:buNone/>
            </a:pPr>
            <a:r>
              <a:rPr lang="en-US" dirty="0">
                <a:ea typeface="+mn-lt"/>
                <a:cs typeface="+mn-lt"/>
              </a:rPr>
              <a:t>#include &lt;stdio.h&gt;</a:t>
            </a:r>
            <a:endParaRPr lang="en-US" dirty="0"/>
          </a:p>
          <a:p>
            <a:pPr marL="0" indent="0">
              <a:buNone/>
            </a:pPr>
            <a:r>
              <a:rPr lang="en-US" dirty="0">
                <a:ea typeface="+mn-lt"/>
                <a:cs typeface="+mn-lt"/>
              </a:rPr>
              <a:t>#include &lt;string.h&gt;</a:t>
            </a:r>
            <a:endParaRPr lang="en-US" dirty="0"/>
          </a:p>
          <a:p>
            <a:pPr marL="0" indent="0">
              <a:buNone/>
            </a:pPr>
            <a:r>
              <a:rPr lang="en-US" dirty="0">
                <a:ea typeface="+mn-lt"/>
                <a:cs typeface="+mn-lt"/>
              </a:rPr>
              <a:t>#include &lt;stdlib.h&gt;</a:t>
            </a:r>
            <a:endParaRPr lang="en-US" dirty="0"/>
          </a:p>
          <a:p>
            <a:pPr marL="0" indent="0">
              <a:buNone/>
            </a:pPr>
            <a:r>
              <a:rPr lang="en-US" dirty="0">
                <a:ea typeface="+mn-lt"/>
                <a:cs typeface="+mn-lt"/>
              </a:rPr>
              <a:t>stdio.h — for input/output functions (printf, scanf).</a:t>
            </a:r>
            <a:endParaRPr lang="en-US" dirty="0"/>
          </a:p>
          <a:p>
            <a:pPr marL="0" indent="0">
              <a:buNone/>
            </a:pPr>
            <a:r>
              <a:rPr lang="en-US" dirty="0">
                <a:ea typeface="+mn-lt"/>
                <a:cs typeface="+mn-lt"/>
              </a:rPr>
              <a:t>string.h — for string operations like strcmp() (used for comparing username and password).</a:t>
            </a:r>
            <a:endParaRPr lang="en-US" dirty="0"/>
          </a:p>
          <a:p>
            <a:pPr marL="0" indent="0">
              <a:buNone/>
            </a:pPr>
            <a:r>
              <a:rPr lang="en-US" dirty="0">
                <a:ea typeface="+mn-lt"/>
                <a:cs typeface="+mn-lt"/>
              </a:rPr>
              <a:t>stdlib.h — for general utility functions (not heavily used here, but useful for exit() etc.).</a:t>
            </a:r>
            <a:endParaRPr lang="en-US" dirty="0"/>
          </a:p>
          <a:p>
            <a:pPr marL="0" indent="0">
              <a:buNone/>
            </a:pPr>
            <a:r>
              <a:rPr lang="en-US" dirty="0">
                <a:ea typeface="+mn-lt"/>
                <a:cs typeface="+mn-lt"/>
              </a:rPr>
              <a:t>-⿢ Variable Declarations</a:t>
            </a:r>
            <a:endParaRPr lang="en-US" dirty="0"/>
          </a:p>
          <a:p>
            <a:pPr marL="0" indent="0">
              <a:buNone/>
            </a:pPr>
            <a:r>
              <a:rPr lang="en-US" dirty="0">
                <a:ea typeface="+mn-lt"/>
                <a:cs typeface="+mn-lt"/>
              </a:rPr>
              <a:t>char username[50], password[50];</a:t>
            </a:r>
            <a:endParaRPr lang="en-US" dirty="0"/>
          </a:p>
          <a:p>
            <a:pPr marL="0" indent="0">
              <a:buNone/>
            </a:pPr>
            <a:r>
              <a:rPr lang="en-US" dirty="0">
                <a:ea typeface="+mn-lt"/>
                <a:cs typeface="+mn-lt"/>
              </a:rPr>
              <a:t>int score = 0, choice;</a:t>
            </a:r>
            <a:endParaRPr lang="en-US" dirty="0"/>
          </a:p>
          <a:p>
            <a:pPr marL="0" indent="0">
              <a:buNone/>
            </a:pPr>
            <a:r>
              <a:rPr lang="en-US" dirty="0">
                <a:ea typeface="+mn-lt"/>
                <a:cs typeface="+mn-lt"/>
              </a:rPr>
              <a:t>username and password: store user inputs for login.</a:t>
            </a:r>
            <a:endParaRPr lang="en-US" dirty="0"/>
          </a:p>
          <a:p>
            <a:pPr marL="0" indent="0">
              <a:buNone/>
            </a:pPr>
            <a:r>
              <a:rPr lang="en-US" dirty="0">
                <a:ea typeface="+mn-lt"/>
                <a:cs typeface="+mn-lt"/>
              </a:rPr>
              <a:t>score: keeps track of the number of correct answers.</a:t>
            </a:r>
            <a:endParaRPr lang="en-US" dirty="0"/>
          </a:p>
          <a:p>
            <a:pPr marL="0" indent="0">
              <a:buNone/>
            </a:pPr>
            <a:r>
              <a:rPr lang="en-US" dirty="0">
                <a:ea typeface="+mn-lt"/>
                <a:cs typeface="+mn-lt"/>
              </a:rPr>
              <a:t>choice: stores the user's selected option for each question.</a:t>
            </a:r>
            <a:endParaRPr lang="en-US" dirty="0"/>
          </a:p>
          <a:p>
            <a:pPr marL="0" indent="0">
              <a:buNone/>
            </a:pPr>
            <a:r>
              <a:rPr lang="en-US" dirty="0">
                <a:ea typeface="+mn-lt"/>
                <a:cs typeface="+mn-lt"/>
              </a:rPr>
              <a:t>⿣ Login System</a:t>
            </a:r>
            <a:endParaRPr lang="en-US" dirty="0"/>
          </a:p>
          <a:p>
            <a:pPr marL="0" indent="0">
              <a:buNone/>
            </a:pPr>
            <a:r>
              <a:rPr lang="en-US" dirty="0">
                <a:ea typeface="+mn-lt"/>
                <a:cs typeface="+mn-lt"/>
              </a:rPr>
              <a:t>printf("Username: ");</a:t>
            </a:r>
            <a:endParaRPr lang="en-US" dirty="0"/>
          </a:p>
          <a:p>
            <a:pPr marL="0" indent="0">
              <a:buNone/>
            </a:pPr>
            <a:r>
              <a:rPr lang="en-US" dirty="0">
                <a:ea typeface="+mn-lt"/>
                <a:cs typeface="+mn-lt"/>
              </a:rPr>
              <a:t>scanf("%s", username);</a:t>
            </a:r>
            <a:endParaRPr lang="en-US" dirty="0"/>
          </a:p>
          <a:p>
            <a:pPr marL="0" indent="0">
              <a:buNone/>
            </a:pPr>
            <a:r>
              <a:rPr lang="en-US" dirty="0">
                <a:ea typeface="+mn-lt"/>
                <a:cs typeface="+mn-lt"/>
              </a:rPr>
              <a:t>printf("Password: ");</a:t>
            </a:r>
            <a:endParaRPr lang="en-US" dirty="0"/>
          </a:p>
          <a:p>
            <a:pPr marL="0" indent="0">
              <a:buNone/>
            </a:pPr>
            <a:r>
              <a:rPr lang="en-US" dirty="0">
                <a:ea typeface="+mn-lt"/>
                <a:cs typeface="+mn-lt"/>
              </a:rPr>
              <a:t>scanf("%s", password);</a:t>
            </a:r>
            <a:endParaRPr lang="en-US" dirty="0"/>
          </a:p>
          <a:p>
            <a:pPr marL="0" indent="0">
              <a:buNone/>
            </a:pPr>
            <a:r>
              <a:rPr lang="en-US" dirty="0">
                <a:ea typeface="+mn-lt"/>
                <a:cs typeface="+mn-lt"/>
              </a:rPr>
              <a:t>The program asks the user to input a username and password.</a:t>
            </a:r>
            <a:endParaRPr lang="en-US" dirty="0"/>
          </a:p>
          <a:p>
            <a:pPr marL="0" indent="0">
              <a:buNone/>
            </a:pPr>
            <a:r>
              <a:rPr lang="en-US">
                <a:ea typeface="+mn-lt"/>
                <a:cs typeface="+mn-lt"/>
              </a:rPr>
              <a:t>Then it checks the credentials:</a:t>
            </a:r>
            <a:endParaRPr lang="en-US"/>
          </a:p>
          <a:p>
            <a:pPr marL="0" indent="0">
              <a:buNone/>
            </a:pPr>
            <a:r>
              <a:rPr lang="en-US" dirty="0">
                <a:ea typeface="+mn-lt"/>
                <a:cs typeface="+mn-lt"/>
              </a:rPr>
              <a:t>if (strcmp(username, "kgcas_student") == 0 &amp;&amp; strcmp(password, "1234") == 0)</a:t>
            </a:r>
            <a:endParaRPr lang="en-US" dirty="0"/>
          </a:p>
          <a:p>
            <a:pPr marL="0" indent="0">
              <a:buNone/>
            </a:pPr>
            <a:r>
              <a:rPr lang="en-US" dirty="0">
                <a:ea typeface="+mn-lt"/>
                <a:cs typeface="+mn-lt"/>
              </a:rPr>
              <a:t>strcmp() compares two strings.</a:t>
            </a:r>
            <a:endParaRPr lang="en-US" dirty="0"/>
          </a:p>
          <a:p>
            <a:pPr marL="0" indent="0">
              <a:buNone/>
            </a:pPr>
            <a:r>
              <a:rPr lang="en-US" dirty="0">
                <a:ea typeface="+mn-lt"/>
                <a:cs typeface="+mn-lt"/>
              </a:rPr>
              <a:t>If both username and password match exactly, login is successful.</a:t>
            </a:r>
            <a:endParaRPr lang="en-US" dirty="0"/>
          </a:p>
          <a:p>
            <a:pPr marL="0" indent="0">
              <a:buNone/>
            </a:pPr>
            <a:r>
              <a:rPr lang="en-US" dirty="0">
                <a:ea typeface="+mn-lt"/>
                <a:cs typeface="+mn-lt"/>
              </a:rPr>
              <a:t>Otherwise, the program ends with an error message.</a:t>
            </a:r>
            <a:endParaRPr lang="en-US" dirty="0"/>
          </a:p>
          <a:p>
            <a:pPr marL="0" indent="0">
              <a:buNone/>
            </a:pPr>
            <a:r>
              <a:rPr lang="en-US" dirty="0">
                <a:ea typeface="+mn-lt"/>
                <a:cs typeface="+mn-lt"/>
              </a:rPr>
              <a:t>⿤ Quiz Start</a:t>
            </a:r>
            <a:endParaRPr lang="en-US" dirty="0"/>
          </a:p>
          <a:p>
            <a:pPr marL="0" indent="0">
              <a:buNone/>
            </a:pPr>
            <a:r>
              <a:rPr lang="en-US">
                <a:ea typeface="+mn-lt"/>
                <a:cs typeface="+mn-lt"/>
              </a:rPr>
              <a:t>After a successful login:</a:t>
            </a:r>
            <a:endParaRPr lang="en-US"/>
          </a:p>
          <a:p>
            <a:pPr marL="0" indent="0">
              <a:buNone/>
            </a:pPr>
            <a:r>
              <a:rPr lang="en-US" dirty="0">
                <a:ea typeface="+mn-lt"/>
                <a:cs typeface="+mn-lt"/>
              </a:rPr>
              <a:t>printf("\nLogin Successful!\n\n");</a:t>
            </a:r>
            <a:endParaRPr lang="en-US" dirty="0"/>
          </a:p>
          <a:p>
            <a:pPr marL="0" indent="0">
              <a:buNone/>
            </a:pPr>
            <a:r>
              <a:rPr lang="en-US" dirty="0">
                <a:ea typeface="+mn-lt"/>
                <a:cs typeface="+mn-lt"/>
              </a:rPr>
              <a:t>printf("===== QUIZ START =====\n\n");</a:t>
            </a:r>
            <a:endParaRPr lang="en-US" dirty="0"/>
          </a:p>
          <a:p>
            <a:pPr marL="0" indent="0">
              <a:buNone/>
            </a:pPr>
            <a:r>
              <a:rPr lang="en-US" dirty="0">
                <a:ea typeface="+mn-lt"/>
                <a:cs typeface="+mn-lt"/>
              </a:rPr>
              <a:t>The quiz begins with 5 multiple-choice questions.</a:t>
            </a:r>
            <a:endParaRPr lang="en-US" dirty="0"/>
          </a:p>
          <a:p>
            <a:pPr marL="0" indent="0">
              <a:buNone/>
            </a:pPr>
            <a:r>
              <a:rPr lang="en-US" dirty="0">
                <a:ea typeface="+mn-lt"/>
                <a:cs typeface="+mn-lt"/>
              </a:rPr>
              <a:t>⿥ Asking Questions</a:t>
            </a:r>
            <a:endParaRPr lang="en-US" dirty="0"/>
          </a:p>
          <a:p>
            <a:pPr marL="0" indent="0">
              <a:buNone/>
            </a:pPr>
            <a:r>
              <a:rPr lang="en-US">
                <a:ea typeface="+mn-lt"/>
                <a:cs typeface="+mn-lt"/>
              </a:rPr>
              <a:t>Each question follows the same pattern:</a:t>
            </a:r>
            <a:endParaRPr lang="en-US"/>
          </a:p>
          <a:p>
            <a:pPr marL="0" indent="0">
              <a:buNone/>
            </a:pPr>
            <a:r>
              <a:rPr lang="en-US" dirty="0">
                <a:ea typeface="+mn-lt"/>
                <a:cs typeface="+mn-lt"/>
              </a:rPr>
              <a:t>printf("Q1. Which of the following is a valid C keyword?\n");</a:t>
            </a:r>
            <a:endParaRPr lang="en-US" dirty="0"/>
          </a:p>
          <a:p>
            <a:pPr marL="0" indent="0">
              <a:buNone/>
            </a:pPr>
            <a:r>
              <a:rPr lang="en-US" dirty="0">
                <a:ea typeface="+mn-lt"/>
                <a:cs typeface="+mn-lt"/>
              </a:rPr>
              <a:t>printf("1. function\n2. integer\n3. typedef\n4. define\n");</a:t>
            </a:r>
            <a:endParaRPr lang="en-US" dirty="0"/>
          </a:p>
          <a:p>
            <a:pPr marL="0" indent="0">
              <a:buNone/>
            </a:pPr>
            <a:r>
              <a:rPr lang="en-US" dirty="0">
                <a:ea typeface="+mn-lt"/>
                <a:cs typeface="+mn-lt"/>
              </a:rPr>
              <a:t>printf("Enter your choice: ");</a:t>
            </a:r>
            <a:endParaRPr lang="en-US" dirty="0"/>
          </a:p>
          <a:p>
            <a:pPr marL="0" indent="0">
              <a:buNone/>
            </a:pPr>
            <a:r>
              <a:rPr lang="en-US" dirty="0">
                <a:ea typeface="+mn-lt"/>
                <a:cs typeface="+mn-lt"/>
              </a:rPr>
              <a:t>scanf("%d", &amp;choice);</a:t>
            </a:r>
            <a:endParaRPr lang="en-US" dirty="0"/>
          </a:p>
          <a:p>
            <a:pPr marL="0" indent="0">
              <a:buNone/>
            </a:pPr>
            <a:r>
              <a:rPr lang="en-US" dirty="0">
                <a:ea typeface="+mn-lt"/>
                <a:cs typeface="+mn-lt"/>
              </a:rPr>
              <a:t>if (choice == 3) score++;</a:t>
            </a:r>
            <a:endParaRPr lang="en-US" dirty="0"/>
          </a:p>
          <a:p>
            <a:pPr marL="0" indent="0">
              <a:buNone/>
            </a:pPr>
            <a:r>
              <a:rPr lang="en-US">
                <a:ea typeface="+mn-lt"/>
                <a:cs typeface="+mn-lt"/>
              </a:rPr>
              <a:t>Here’s what happens:</a:t>
            </a:r>
            <a:endParaRPr lang="en-US"/>
          </a:p>
          <a:p>
            <a:pPr marL="0" indent="0">
              <a:buNone/>
            </a:pPr>
            <a:r>
              <a:rPr lang="en-US" dirty="0">
                <a:ea typeface="+mn-lt"/>
                <a:cs typeface="+mn-lt"/>
              </a:rPr>
              <a:t>The question and 4 options are displayed.</a:t>
            </a:r>
            <a:endParaRPr lang="en-US" dirty="0"/>
          </a:p>
          <a:p>
            <a:pPr marL="0" indent="0">
              <a:buNone/>
            </a:pPr>
            <a:r>
              <a:rPr lang="en-US" dirty="0">
                <a:ea typeface="+mn-lt"/>
                <a:cs typeface="+mn-lt"/>
              </a:rPr>
              <a:t>The user enters their choice number (1–4).</a:t>
            </a:r>
            <a:endParaRPr lang="en-US" dirty="0"/>
          </a:p>
          <a:p>
            <a:pPr marL="0" indent="0">
              <a:buNone/>
            </a:pPr>
            <a:r>
              <a:rPr lang="en-US" dirty="0">
                <a:ea typeface="+mn-lt"/>
                <a:cs typeface="+mn-lt"/>
              </a:rPr>
              <a:t>The program checks if the chosen answer is correct.</a:t>
            </a:r>
            <a:endParaRPr lang="en-US" dirty="0"/>
          </a:p>
          <a:p>
            <a:pPr marL="0" indent="0">
              <a:buNone/>
            </a:pPr>
            <a:r>
              <a:rPr lang="en-US" dirty="0">
                <a:ea typeface="+mn-lt"/>
                <a:cs typeface="+mn-lt"/>
              </a:rPr>
              <a:t>If correct, the score is incremented by 1.</a:t>
            </a:r>
            <a:endParaRPr lang="en-US" dirty="0"/>
          </a:p>
          <a:p>
            <a:pPr marL="0" indent="0">
              <a:buNone/>
            </a:pPr>
            <a:r>
              <a:rPr lang="en-US" dirty="0">
                <a:ea typeface="+mn-lt"/>
                <a:cs typeface="+mn-lt"/>
              </a:rPr>
              <a:t>This repeats for all 5 questions.</a:t>
            </a:r>
            <a:endParaRPr lang="en-US" dirty="0"/>
          </a:p>
          <a:p>
            <a:pPr marL="0" indent="0">
              <a:buNone/>
            </a:pPr>
            <a:r>
              <a:rPr lang="en-US" dirty="0">
                <a:ea typeface="+mn-lt"/>
                <a:cs typeface="+mn-lt"/>
              </a:rPr>
              <a:t>⿦ Result Calculation</a:t>
            </a:r>
            <a:endParaRPr lang="en-US" dirty="0"/>
          </a:p>
          <a:p>
            <a:pPr marL="0" indent="0">
              <a:buNone/>
            </a:pPr>
            <a:r>
              <a:rPr lang="en-US">
                <a:ea typeface="+mn-lt"/>
                <a:cs typeface="+mn-lt"/>
              </a:rPr>
              <a:t>After all questions:</a:t>
            </a:r>
            <a:endParaRPr lang="en-US"/>
          </a:p>
          <a:p>
            <a:pPr marL="0" indent="0">
              <a:buNone/>
            </a:pPr>
            <a:r>
              <a:rPr lang="en-US">
                <a:ea typeface="+mn-lt"/>
                <a:cs typeface="+mn-lt"/>
              </a:rPr>
              <a:t>printf("\n===== QUIZ COMPLETED =====\n");</a:t>
            </a:r>
            <a:endParaRPr lang="en-US"/>
          </a:p>
          <a:p>
            <a:pPr marL="0" indent="0">
              <a:buNone/>
            </a:pPr>
            <a:r>
              <a:rPr lang="en-US">
                <a:ea typeface="+mn-lt"/>
                <a:cs typeface="+mn-lt"/>
              </a:rPr>
              <a:t>printf("Your Score: %d / 5\n", score);</a:t>
            </a:r>
            <a:endParaRPr lang="en-US"/>
          </a:p>
          <a:p>
            <a:pPr marL="0" indent="0">
              <a:buNone/>
            </a:pPr>
            <a:r>
              <a:rPr lang="en-US">
                <a:ea typeface="+mn-lt"/>
                <a:cs typeface="+mn-lt"/>
              </a:rPr>
              <a:t>Displays the total correct answers out of 5.</a:t>
            </a:r>
            <a:endParaRPr lang="en-US"/>
          </a:p>
          <a:p>
            <a:pPr marL="0" indent="0">
              <a:buNone/>
            </a:pPr>
            <a:r>
              <a:rPr lang="en-US">
                <a:ea typeface="+mn-lt"/>
                <a:cs typeface="+mn-lt"/>
              </a:rPr>
              <a:t>Then gives feedback:</a:t>
            </a:r>
            <a:endParaRPr lang="en-US"/>
          </a:p>
          <a:p>
            <a:pPr marL="0" indent="0">
              <a:buNone/>
            </a:pPr>
            <a:r>
              <a:rPr lang="en-US">
                <a:ea typeface="+mn-lt"/>
                <a:cs typeface="+mn-lt"/>
              </a:rPr>
              <a:t>if (score == 5)</a:t>
            </a:r>
            <a:endParaRPr lang="en-US"/>
          </a:p>
          <a:p>
            <a:pPr marL="0" indent="0">
              <a:buNone/>
            </a:pPr>
            <a:r>
              <a:rPr lang="en-US">
                <a:ea typeface="+mn-lt"/>
                <a:cs typeface="+mn-lt"/>
              </a:rPr>
              <a:t>    printf("Excellent! You got all correct!\n");</a:t>
            </a:r>
            <a:endParaRPr lang="en-US"/>
          </a:p>
          <a:p>
            <a:pPr marL="0" indent="0">
              <a:buNone/>
            </a:pPr>
            <a:r>
              <a:rPr lang="en-US">
                <a:ea typeface="+mn-lt"/>
                <a:cs typeface="+mn-lt"/>
              </a:rPr>
              <a:t>else if (score &gt;= 3)</a:t>
            </a:r>
            <a:endParaRPr lang="en-US"/>
          </a:p>
          <a:p>
            <a:pPr marL="0" indent="0">
              <a:buNone/>
            </a:pPr>
            <a:r>
              <a:rPr lang="en-US">
                <a:ea typeface="+mn-lt"/>
                <a:cs typeface="+mn-lt"/>
              </a:rPr>
              <a:t>    printf("Good job! You passed the quiz.\n");</a:t>
            </a:r>
            <a:endParaRPr lang="en-US"/>
          </a:p>
          <a:p>
            <a:pPr marL="0" indent="0">
              <a:buNone/>
            </a:pPr>
            <a:r>
              <a:rPr lang="en-US">
                <a:ea typeface="+mn-lt"/>
                <a:cs typeface="+mn-lt"/>
              </a:rPr>
              <a:t>else</a:t>
            </a:r>
            <a:endParaRPr lang="en-US"/>
          </a:p>
          <a:p>
            <a:pPr marL="0" indent="0">
              <a:buNone/>
            </a:pPr>
            <a:r>
              <a:rPr lang="en-US">
                <a:ea typeface="+mn-lt"/>
                <a:cs typeface="+mn-lt"/>
              </a:rPr>
              <a:t>    printf("Better luck next time.\n");</a:t>
            </a:r>
            <a:endParaRPr lang="en-US"/>
          </a:p>
          <a:p>
            <a:pPr marL="0" indent="0">
              <a:buNone/>
            </a:pPr>
            <a:r>
              <a:rPr lang="en-US">
                <a:ea typeface="+mn-lt"/>
                <a:cs typeface="+mn-lt"/>
              </a:rPr>
              <a:t>⿧ End Message</a:t>
            </a:r>
            <a:endParaRPr lang="en-US"/>
          </a:p>
          <a:p>
            <a:pPr marL="0" indent="0">
              <a:buNone/>
            </a:pPr>
            <a:r>
              <a:rPr lang="en-US">
                <a:ea typeface="+mn-lt"/>
                <a:cs typeface="+mn-lt"/>
              </a:rPr>
              <a:t>Finally:</a:t>
            </a:r>
            <a:endParaRPr lang="en-US"/>
          </a:p>
          <a:p>
            <a:pPr marL="0" indent="0">
              <a:buNone/>
            </a:pPr>
            <a:r>
              <a:rPr lang="en-US">
                <a:ea typeface="+mn-lt"/>
                <a:cs typeface="+mn-lt"/>
              </a:rPr>
              <a:t>printf("\nThank you for participating!\n");</a:t>
            </a:r>
            <a:endParaRPr lang="en-US"/>
          </a:p>
          <a:p>
            <a:pPr marL="0" indent="0">
              <a:buNone/>
            </a:pPr>
            <a:r>
              <a:rPr lang="en-US">
                <a:ea typeface="+mn-lt"/>
                <a:cs typeface="+mn-lt"/>
              </a:rPr>
              <a:t>This marks the end of the program.</a:t>
            </a:r>
            <a:endParaRPr lang="en-US"/>
          </a:p>
          <a:p>
            <a:pPr marL="0" indent="0">
              <a:buNone/>
            </a:pPr>
            <a:r>
              <a:rPr lang="en-US">
                <a:ea typeface="+mn-lt"/>
                <a:cs typeface="+mn-lt"/>
              </a:rPr>
              <a:t>-Step    Action    Description</a:t>
            </a:r>
            <a:endParaRPr lang="en-US"/>
          </a:p>
          <a:p>
            <a:pPr marL="0" indent="0">
              <a:buNone/>
            </a:pPr>
            <a:r>
              <a:rPr lang="en-US">
                <a:ea typeface="+mn-lt"/>
                <a:cs typeface="+mn-lt"/>
              </a:rPr>
              <a:t>1    Login    User enters username and password</a:t>
            </a:r>
            <a:endParaRPr lang="en-US"/>
          </a:p>
          <a:p>
            <a:pPr marL="0" indent="0">
              <a:buNone/>
            </a:pPr>
            <a:r>
              <a:rPr lang="en-US">
                <a:ea typeface="+mn-lt"/>
                <a:cs typeface="+mn-lt"/>
              </a:rPr>
              <a:t>2    Verification    Program checks credentials</a:t>
            </a:r>
            <a:endParaRPr lang="en-US"/>
          </a:p>
          <a:p>
            <a:pPr marL="0" indent="0">
              <a:buNone/>
            </a:pPr>
            <a:r>
              <a:rPr lang="en-US">
                <a:ea typeface="+mn-lt"/>
                <a:cs typeface="+mn-lt"/>
              </a:rPr>
              <a:t>3    Quiz    5 multiple-choice questions</a:t>
            </a:r>
            <a:endParaRPr lang="en-US"/>
          </a:p>
          <a:p>
            <a:pPr marL="0" indent="0">
              <a:buNone/>
            </a:pPr>
            <a:r>
              <a:rPr lang="en-US">
                <a:ea typeface="+mn-lt"/>
                <a:cs typeface="+mn-lt"/>
              </a:rPr>
              <a:t>4    Scoring    1 point per correct answer</a:t>
            </a:r>
            <a:endParaRPr lang="en-US"/>
          </a:p>
          <a:p>
            <a:pPr marL="0" indent="0">
              <a:buNone/>
            </a:pPr>
            <a:r>
              <a:rPr lang="en-US">
                <a:ea typeface="+mn-lt"/>
                <a:cs typeface="+mn-lt"/>
              </a:rPr>
              <a:t>5    Result    Final score and message displayed</a:t>
            </a:r>
            <a:endParaRPr lang="en-US"/>
          </a:p>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04800"/>
            <a:ext cx="8596668" cy="617416"/>
          </a:xfrm>
        </p:spPr>
        <p:txBody>
          <a:bodyPr>
            <a:normAutofit fontScale="90000"/>
          </a:bodyPr>
          <a:lstStyle/>
          <a:p>
            <a:r>
              <a:rPr lang="en-US">
                <a:solidFill>
                  <a:srgbClr val="002060"/>
                </a:solidFill>
              </a:rPr>
              <a:t>OUTPUT</a:t>
            </a:r>
            <a:endParaRPr lang="en-US">
              <a:solidFill>
                <a:srgbClr val="002060"/>
              </a:solidFill>
            </a:endParaRPr>
          </a:p>
        </p:txBody>
      </p:sp>
      <p:sp>
        <p:nvSpPr>
          <p:cNvPr id="3" name="Content Placeholder 2"/>
          <p:cNvSpPr>
            <a:spLocks noGrp="1"/>
          </p:cNvSpPr>
          <p:nvPr>
            <p:ph idx="1"/>
          </p:nvPr>
        </p:nvSpPr>
        <p:spPr>
          <a:xfrm>
            <a:off x="677334" y="929667"/>
            <a:ext cx="9382114" cy="6237110"/>
          </a:xfrm>
        </p:spPr>
        <p:txBody>
          <a:bodyPr vert="horz" lIns="91440" tIns="45720" rIns="91440" bIns="45720" rtlCol="0" anchor="t">
            <a:normAutofit fontScale="25000"/>
          </a:bodyPr>
          <a:lstStyle/>
          <a:p>
            <a:pPr marL="0" indent="0">
              <a:buNone/>
            </a:pPr>
            <a:r>
              <a:rPr lang="en-US" altLang="en-US" sz="6400" dirty="0"/>
              <a:t>=== Welcome to the Online Quiz System ===</a:t>
            </a:r>
            <a:endParaRPr lang="en-US" altLang="en-US" sz="6400" dirty="0"/>
          </a:p>
          <a:p>
            <a:pPr marL="0" indent="0">
              <a:buNone/>
            </a:pPr>
            <a:r>
              <a:rPr lang="en-US" altLang="en-US" sz="6400" dirty="0"/>
              <a:t>Username: kgcas_student</a:t>
            </a:r>
            <a:endParaRPr lang="en-US" altLang="en-US" sz="6400" dirty="0"/>
          </a:p>
          <a:p>
            <a:pPr marL="0" indent="0">
              <a:buNone/>
            </a:pPr>
            <a:r>
              <a:rPr lang="en-US" altLang="en-US" sz="6400" dirty="0"/>
              <a:t>Password: 1234</a:t>
            </a:r>
            <a:endParaRPr lang="en-US" altLang="en-US" sz="6400" dirty="0"/>
          </a:p>
          <a:p>
            <a:pPr marL="0" indent="0">
              <a:buNone/>
            </a:pPr>
            <a:endParaRPr lang="en-US" altLang="en-US" sz="6400" dirty="0"/>
          </a:p>
          <a:p>
            <a:pPr marL="0" indent="0">
              <a:buNone/>
            </a:pPr>
            <a:r>
              <a:rPr lang="en-US" altLang="en-US" sz="6400" dirty="0"/>
              <a:t>Login Successful!</a:t>
            </a:r>
            <a:endParaRPr lang="en-US" altLang="en-US" sz="6400" dirty="0"/>
          </a:p>
          <a:p>
            <a:pPr marL="0" indent="0">
              <a:buNone/>
            </a:pPr>
            <a:endParaRPr lang="en-US" altLang="en-US" sz="6400" dirty="0"/>
          </a:p>
          <a:p>
            <a:pPr marL="0" indent="0">
              <a:buNone/>
            </a:pPr>
            <a:r>
              <a:rPr lang="en-US" altLang="en-US" sz="6400" dirty="0"/>
              <a:t>===== QUIZ START =====</a:t>
            </a:r>
            <a:endParaRPr lang="en-US" altLang="en-US" sz="6400" dirty="0"/>
          </a:p>
          <a:p>
            <a:pPr marL="0" indent="0">
              <a:buNone/>
            </a:pPr>
            <a:endParaRPr lang="en-US" altLang="en-US" sz="6400" dirty="0"/>
          </a:p>
          <a:p>
            <a:pPr marL="0" indent="0">
              <a:buNone/>
            </a:pPr>
            <a:r>
              <a:rPr lang="en-US" altLang="en-US" sz="6400" dirty="0"/>
              <a:t>Q1. Which of the following is a valid C keyword?</a:t>
            </a:r>
            <a:endParaRPr lang="en-US" altLang="en-US" sz="6400" dirty="0"/>
          </a:p>
          <a:p>
            <a:pPr marL="0" indent="0">
              <a:buNone/>
            </a:pPr>
            <a:r>
              <a:rPr lang="en-US" altLang="en-US" sz="6400" dirty="0"/>
              <a:t>1. function</a:t>
            </a:r>
            <a:endParaRPr lang="en-US" altLang="en-US" sz="6400" dirty="0"/>
          </a:p>
          <a:p>
            <a:pPr marL="0" indent="0">
              <a:buNone/>
            </a:pPr>
            <a:r>
              <a:rPr lang="en-US" altLang="en-US" sz="6400" dirty="0"/>
              <a:t>2. integer</a:t>
            </a:r>
            <a:endParaRPr lang="en-US" altLang="en-US" sz="6400" dirty="0"/>
          </a:p>
          <a:p>
            <a:pPr marL="0" indent="0">
              <a:buNone/>
            </a:pPr>
            <a:r>
              <a:rPr lang="en-US" altLang="en-US" sz="6400" dirty="0"/>
              <a:t>3. typedef</a:t>
            </a:r>
            <a:endParaRPr lang="en-US" altLang="en-US" sz="6400" dirty="0"/>
          </a:p>
          <a:p>
            <a:pPr marL="0" indent="0">
              <a:buNone/>
            </a:pPr>
            <a:r>
              <a:rPr lang="en-US" altLang="en-US" sz="6400" dirty="0"/>
              <a:t>4. define</a:t>
            </a:r>
            <a:endParaRPr lang="en-US" altLang="en-US" sz="6400" dirty="0"/>
          </a:p>
          <a:p>
            <a:pPr marL="0" indent="0">
              <a:buNone/>
            </a:pPr>
            <a:r>
              <a:rPr lang="en-US" altLang="en-US" sz="6400" dirty="0"/>
              <a:t>Enter your choice: 3</a:t>
            </a:r>
            <a:endParaRPr lang="en-US" altLang="en-US" sz="6400" dirty="0"/>
          </a:p>
          <a:p>
            <a:pPr marL="0" indent="0">
              <a:buNone/>
            </a:pPr>
            <a:endParaRPr lang="en-US" altLang="en-US" sz="6400" dirty="0"/>
          </a:p>
          <a:p>
            <a:pPr marL="0" indent="0">
              <a:buNone/>
            </a:pPr>
            <a:r>
              <a:rPr lang="en-US" altLang="en-US" sz="6400" dirty="0"/>
              <a:t>Q2. What is the size of an int in C (on most 32-bit systems)?</a:t>
            </a:r>
            <a:endParaRPr lang="en-US" altLang="en-US" sz="6400" dirty="0"/>
          </a:p>
          <a:p>
            <a:pPr marL="0" indent="0">
              <a:buNone/>
            </a:pPr>
            <a:r>
              <a:rPr lang="en-US" altLang="en-US" sz="6400" dirty="0"/>
              <a:t>1. 2 bytes</a:t>
            </a:r>
            <a:endParaRPr lang="en-US" altLang="en-US" sz="6400" dirty="0"/>
          </a:p>
          <a:p>
            <a:pPr marL="0" indent="0">
              <a:buNone/>
            </a:pPr>
            <a:r>
              <a:rPr lang="en-US" altLang="en-US" sz="6400" dirty="0"/>
              <a:t>2. 4 bytes</a:t>
            </a:r>
            <a:endParaRPr lang="en-US" altLang="en-US" sz="6400" dirty="0"/>
          </a:p>
          <a:p>
            <a:pPr marL="0" indent="0">
              <a:buNone/>
            </a:pPr>
            <a:r>
              <a:rPr lang="en-US" altLang="en-US" sz="6400" dirty="0"/>
              <a:t>3. 8 bytes</a:t>
            </a:r>
            <a:endParaRPr lang="en-US" altLang="en-US" sz="6400" dirty="0"/>
          </a:p>
          <a:p>
            <a:pPr marL="0" indent="0">
              <a:buNone/>
            </a:pPr>
            <a:r>
              <a:rPr lang="en-US" altLang="en-US" sz="6400" dirty="0"/>
              <a:t>4. Depends on compiler</a:t>
            </a:r>
            <a:endParaRPr lang="en-US" altLang="en-US" sz="6400" dirty="0"/>
          </a:p>
          <a:p>
            <a:pPr marL="0" indent="0">
              <a:buNone/>
            </a:pPr>
            <a:r>
              <a:rPr lang="en-US" altLang="en-US" sz="6400" dirty="0"/>
              <a:t>Enter your choice: 2</a:t>
            </a:r>
            <a:endParaRPr lang="en-US" altLang="en-US" sz="6400" dirty="0"/>
          </a:p>
          <a:p>
            <a:pPr marL="0" indent="0">
              <a:buNone/>
            </a:pPr>
            <a:endParaRPr lang="en-US" altLang="en-US" sz="6400" dirty="0"/>
          </a:p>
          <a:p>
            <a:pPr marL="0" indent="0">
              <a:buNone/>
            </a:pPr>
            <a:r>
              <a:rPr lang="en-US" altLang="en-US" sz="6400" dirty="0"/>
              <a:t>Q3. Which symbol is used to denote a preprocessor directive in C?</a:t>
            </a:r>
            <a:endParaRPr lang="en-US" altLang="en-US" sz="6400" dirty="0"/>
          </a:p>
          <a:p>
            <a:pPr marL="0" indent="0">
              <a:buNone/>
            </a:pPr>
            <a:r>
              <a:rPr lang="en-US" altLang="en-US" sz="6400" dirty="0"/>
              <a:t>1. $</a:t>
            </a:r>
            <a:endParaRPr lang="en-US" altLang="en-US" sz="6400" dirty="0"/>
          </a:p>
          <a:p>
            <a:pPr marL="0" indent="0">
              <a:buNone/>
            </a:pPr>
            <a:r>
              <a:rPr lang="en-US" altLang="en-US" sz="6400" dirty="0"/>
              <a:t>2. #</a:t>
            </a:r>
            <a:endParaRPr lang="en-US" altLang="en-US" sz="6400" dirty="0"/>
          </a:p>
          <a:p>
            <a:pPr marL="0" indent="0">
              <a:buNone/>
            </a:pPr>
            <a:r>
              <a:rPr lang="en-US" altLang="en-US" sz="6400" dirty="0"/>
              <a:t>3. &amp;</a:t>
            </a:r>
            <a:endParaRPr lang="en-US" altLang="en-US" sz="6400" dirty="0"/>
          </a:p>
          <a:p>
            <a:pPr marL="0" indent="0">
              <a:buNone/>
            </a:pPr>
            <a:r>
              <a:rPr lang="en-US" altLang="en-US" sz="6400" dirty="0"/>
              <a:t>4. @</a:t>
            </a:r>
            <a:endParaRPr lang="en-US" altLang="en-US" sz="6400" dirty="0"/>
          </a:p>
          <a:p>
            <a:pPr marL="0" indent="0">
              <a:buNone/>
            </a:pPr>
            <a:r>
              <a:rPr lang="en-US" altLang="en-US" sz="6400" dirty="0"/>
              <a:t>Enter your choice: 2</a:t>
            </a:r>
            <a:endParaRPr lang="en-US" altLang="en-US" sz="6400" dirty="0"/>
          </a:p>
          <a:p>
            <a:pPr marL="0" indent="0">
              <a:buNone/>
            </a:pPr>
            <a:endParaRPr lang="en-US" altLang="en-US" sz="6400" dirty="0"/>
          </a:p>
          <a:p>
            <a:pPr marL="0" indent="0">
              <a:buNone/>
            </a:pPr>
            <a:r>
              <a:rPr lang="en-US" altLang="en-US" sz="6400" dirty="0"/>
              <a:t>Q4. What is the output of printf("%d", 10); ?</a:t>
            </a:r>
            <a:endParaRPr lang="en-US" altLang="en-US" sz="6400" dirty="0"/>
          </a:p>
          <a:p>
            <a:pPr marL="0" indent="0">
              <a:buNone/>
            </a:pPr>
            <a:r>
              <a:rPr lang="en-US" altLang="en-US" sz="6400" dirty="0"/>
              <a:t>1. %d</a:t>
            </a:r>
            <a:endParaRPr lang="en-US" altLang="en-US" sz="6400" dirty="0"/>
          </a:p>
          <a:p>
            <a:pPr marL="0" indent="0">
              <a:buNone/>
            </a:pPr>
            <a:r>
              <a:rPr lang="en-US" altLang="en-US" sz="6400" dirty="0"/>
              <a:t>2. 10</a:t>
            </a:r>
            <a:endParaRPr lang="en-US" altLang="en-US" sz="6400" dirty="0"/>
          </a:p>
          <a:p>
            <a:pPr marL="0" indent="0">
              <a:buNone/>
            </a:pPr>
            <a:r>
              <a:rPr lang="en-US" altLang="en-US" sz="6400" dirty="0"/>
              <a:t>3. %d</a:t>
            </a:r>
            <a:endParaRPr lang="en-US" altLang="en-US" sz="6400" dirty="0"/>
          </a:p>
          <a:p>
            <a:pPr marL="0" indent="0">
              <a:buNone/>
            </a:pPr>
            <a:r>
              <a:rPr lang="en-US" altLang="en-US" sz="6400" dirty="0"/>
              <a:t>4. Error</a:t>
            </a:r>
            <a:endParaRPr lang="en-US" altLang="en-US" sz="6400" dirty="0"/>
          </a:p>
          <a:p>
            <a:pPr marL="0" indent="0">
              <a:buNone/>
            </a:pPr>
            <a:r>
              <a:rPr lang="en-US" altLang="en-US" sz="6400" dirty="0"/>
              <a:t>Enter your choice: 2</a:t>
            </a:r>
            <a:endParaRPr lang="en-US" altLang="en-US" sz="6400" dirty="0"/>
          </a:p>
          <a:p>
            <a:pPr marL="0" indent="0">
              <a:buNone/>
            </a:pPr>
            <a:endParaRPr lang="en-US" altLang="en-US" sz="6400" dirty="0"/>
          </a:p>
          <a:p>
            <a:pPr marL="0" indent="0">
              <a:buNone/>
            </a:pPr>
            <a:r>
              <a:rPr lang="en-US" altLang="en-US" sz="6400" dirty="0"/>
              <a:t>Q5. Which of the following functions is used to read a string in C?</a:t>
            </a:r>
            <a:endParaRPr lang="en-US" altLang="en-US" sz="6400" dirty="0"/>
          </a:p>
          <a:p>
            <a:pPr marL="0" indent="0">
              <a:buNone/>
            </a:pPr>
            <a:r>
              <a:rPr lang="en-US" altLang="en-US" sz="6400" dirty="0"/>
              <a:t>1. scanf()</a:t>
            </a:r>
            <a:endParaRPr lang="en-US" altLang="en-US" sz="6400" dirty="0"/>
          </a:p>
          <a:p>
            <a:pPr marL="0" indent="0">
              <a:buNone/>
            </a:pPr>
            <a:r>
              <a:rPr lang="en-US" altLang="en-US" sz="6400" dirty="0"/>
              <a:t>2. gets()</a:t>
            </a:r>
            <a:endParaRPr lang="en-US" altLang="en-US" sz="6400" dirty="0"/>
          </a:p>
          <a:p>
            <a:pPr marL="0" indent="0">
              <a:buNone/>
            </a:pPr>
            <a:r>
              <a:rPr lang="en-US" altLang="en-US" sz="6400" dirty="0"/>
              <a:t>3. puts()</a:t>
            </a:r>
            <a:endParaRPr lang="en-US" altLang="en-US" sz="6400" dirty="0"/>
          </a:p>
          <a:p>
            <a:pPr marL="0" indent="0">
              <a:buNone/>
            </a:pPr>
            <a:r>
              <a:rPr lang="en-US" altLang="en-US" sz="6400" dirty="0"/>
              <a:t>4. printf()</a:t>
            </a:r>
            <a:endParaRPr lang="en-US" altLang="en-US" sz="6400" dirty="0"/>
          </a:p>
          <a:p>
            <a:pPr marL="0" indent="0">
              <a:buNone/>
            </a:pPr>
            <a:r>
              <a:rPr lang="en-US" altLang="en-US" sz="6400" dirty="0"/>
              <a:t>Enter your choice: 3</a:t>
            </a:r>
            <a:endParaRPr lang="en-US" altLang="en-US" sz="6400" dirty="0"/>
          </a:p>
          <a:p>
            <a:pPr marL="0" indent="0">
              <a:buNone/>
            </a:pPr>
            <a:endParaRPr lang="en-US" altLang="en-US" sz="6400" dirty="0"/>
          </a:p>
          <a:p>
            <a:pPr marL="0" indent="0">
              <a:buNone/>
            </a:pPr>
            <a:r>
              <a:rPr lang="en-US" altLang="en-US" sz="6400" dirty="0"/>
              <a:t>===== QUIZ COMPLETED =====</a:t>
            </a:r>
            <a:endParaRPr lang="en-US" altLang="en-US" sz="6400" dirty="0"/>
          </a:p>
          <a:p>
            <a:pPr marL="0" indent="0">
              <a:buNone/>
            </a:pPr>
            <a:r>
              <a:rPr lang="en-US" altLang="en-US" sz="6400" dirty="0"/>
              <a:t>Your Score: 4 / 5</a:t>
            </a:r>
            <a:endParaRPr lang="en-US" altLang="en-US" sz="6400" dirty="0"/>
          </a:p>
          <a:p>
            <a:pPr marL="0" indent="0">
              <a:buNone/>
            </a:pPr>
            <a:r>
              <a:rPr lang="en-US" altLang="en-US" sz="6400" dirty="0"/>
              <a:t>Good job! You passed the quiz.</a:t>
            </a:r>
            <a:endParaRPr lang="en-US" altLang="en-US" sz="6400" dirty="0"/>
          </a:p>
          <a:p>
            <a:pPr marL="0" indent="0">
              <a:buNone/>
            </a:pPr>
            <a:endParaRPr lang="en-US" altLang="en-US" sz="6400" dirty="0"/>
          </a:p>
          <a:p>
            <a:pPr marL="0" indent="0">
              <a:buNone/>
            </a:pPr>
            <a:r>
              <a:rPr lang="en-US" altLang="en-US" sz="6400" dirty="0"/>
              <a:t>Thank you for participating!</a:t>
            </a:r>
            <a:endParaRPr lang="en-US" altLang="en-US" sz="6400" dirty="0"/>
          </a:p>
          <a:p>
            <a:pPr marL="0" indent="0">
              <a:buNone/>
            </a:pPr>
            <a:r>
              <a:rPr lang="en-US" altLang="en-US" sz="6400" dirty="0"/>
              <a:t>_x001B_[?2004h</a:t>
            </a:r>
            <a:endParaRPr lang="en-US" altLang="en-US" sz="6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3939"/>
          </a:xfrm>
        </p:spPr>
        <p:txBody>
          <a:bodyPr/>
          <a:lstStyle/>
          <a:p>
            <a:r>
              <a:rPr lang="en-US" dirty="0">
                <a:solidFill>
                  <a:srgbClr val="002060"/>
                </a:solidFill>
              </a:rPr>
              <a:t>CONCLUSION</a:t>
            </a:r>
            <a:endParaRPr lang="en-US" dirty="0">
              <a:solidFill>
                <a:srgbClr val="002060"/>
              </a:solidFill>
            </a:endParaRPr>
          </a:p>
        </p:txBody>
      </p:sp>
      <p:sp>
        <p:nvSpPr>
          <p:cNvPr id="3" name="Content Placeholder 2"/>
          <p:cNvSpPr>
            <a:spLocks noGrp="1"/>
          </p:cNvSpPr>
          <p:nvPr>
            <p:ph idx="1"/>
          </p:nvPr>
        </p:nvSpPr>
        <p:spPr>
          <a:xfrm>
            <a:off x="677334" y="1715113"/>
            <a:ext cx="9089037" cy="4912402"/>
          </a:xfrm>
        </p:spPr>
        <p:txBody>
          <a:bodyPr vert="horz" lIns="91440" tIns="45720" rIns="91440" bIns="45720" rtlCol="0" anchor="t">
            <a:normAutofit/>
          </a:bodyPr>
          <a:lstStyle/>
          <a:p>
            <a:r>
              <a:rPr lang="en-US">
                <a:ea typeface="+mn-lt"/>
                <a:cs typeface="+mn-lt"/>
              </a:rPr>
              <a:t>The Online Quiz System project provides an efficient and interactive way to conduct assessments digitally.</a:t>
            </a:r>
            <a:endParaRPr lang="en-US"/>
          </a:p>
          <a:p>
            <a:r>
              <a:rPr lang="en-US">
                <a:ea typeface="+mn-lt"/>
                <a:cs typeface="+mn-lt"/>
              </a:rPr>
              <a:t>It eliminates the limitations of manual examination processes by automating question delivery, evaluation, and result generation.</a:t>
            </a:r>
            <a:endParaRPr lang="en-US"/>
          </a:p>
          <a:p>
            <a:r>
              <a:rPr lang="en-US">
                <a:ea typeface="+mn-lt"/>
                <a:cs typeface="+mn-lt"/>
              </a:rPr>
              <a:t>Through this project, users can attempt quizzes anytime and anywhere, ensuring flexibility and accessibility.</a:t>
            </a:r>
            <a:endParaRPr lang="en-US"/>
          </a:p>
          <a:p>
            <a:r>
              <a:rPr lang="en-US">
                <a:ea typeface="+mn-lt"/>
                <a:cs typeface="+mn-lt"/>
              </a:rPr>
              <a:t>It also ensures accuracy in scoring and reduces the time and effort required for paper-based exams.</a:t>
            </a:r>
            <a:endParaRPr lang="en-US"/>
          </a:p>
          <a:p>
            <a:r>
              <a:rPr lang="en-US">
                <a:ea typeface="+mn-lt"/>
                <a:cs typeface="+mn-lt"/>
              </a:rPr>
              <a:t>By applying core computing concepts such as data storage, conditional logic, and user interface design, the project demonstrates practical programming skills.</a:t>
            </a:r>
            <a:endParaRPr lang="en-US"/>
          </a:p>
          <a:p>
            <a:r>
              <a:rPr lang="en-US">
                <a:ea typeface="+mn-lt"/>
                <a:cs typeface="+mn-lt"/>
              </a:rPr>
              <a:t>This system can be enhanced with features like user authentication, database connectivity, and performance analytics.</a:t>
            </a:r>
            <a:endParaRPr lang="en-US"/>
          </a:p>
          <a:p>
            <a:r>
              <a:rPr lang="en-US">
                <a:ea typeface="+mn-lt"/>
                <a:cs typeface="+mn-lt"/>
              </a:rPr>
              <a:t>Overall, the Online Quiz System promotes smart learning and showcases how computing can simplify educational processes.</a:t>
            </a:r>
            <a:endParaRPr lang="en-US"/>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11614</Words>
  <Application>WPS Presentation</Application>
  <PresentationFormat>Widescreen</PresentationFormat>
  <Paragraphs>329</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Wingdings 3</vt:lpstr>
      <vt:lpstr>Arial</vt:lpstr>
      <vt:lpstr>Trebuchet MS</vt:lpstr>
      <vt:lpstr>Microsoft YaHei</vt:lpstr>
      <vt:lpstr>Arial Unicode MS</vt:lpstr>
      <vt:lpstr>Calibri</vt:lpstr>
      <vt:lpstr>Facet</vt:lpstr>
      <vt:lpstr>PowerPoint 演示文稿</vt:lpstr>
      <vt:lpstr>                INTRODUCTION               ONLINE QUIZ SYSTEM</vt:lpstr>
      <vt:lpstr>OBJECTIVE </vt:lpstr>
      <vt:lpstr>PROBLEM STATEMENT </vt:lpstr>
      <vt:lpstr>SYSTEM REQUIREMENTS </vt:lpstr>
      <vt:lpstr>SYSTEM DESIGN </vt:lpstr>
      <vt:lpstr>MODULE DESCRIPTION </vt:lpstr>
      <vt:lpstr>ALGORITHM</vt:lpstr>
      <vt:lpstr>IMPLEMENTATION </vt:lpstr>
      <vt:lpstr>SOURCE CODE </vt:lpstr>
      <vt:lpstr>PROGRAM EXPLANATION </vt:lpstr>
      <vt:lpstr>OUTPUT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Sudharsan S</dc:creator>
  <cp:lastModifiedBy>KGCAS</cp:lastModifiedBy>
  <cp:revision>87</cp:revision>
  <dcterms:created xsi:type="dcterms:W3CDTF">2025-11-07T15:49:00Z</dcterms:created>
  <dcterms:modified xsi:type="dcterms:W3CDTF">2025-11-08T04:29:36Z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497EA65ECEA64590996235D6AABB9BCF_13</vt:lpwstr>
  </property>
  <property fmtid="{D5CDD505-2E9C-101B-9397-08002B2CF9AE}" pid="3" name="KSOProductBuildVer">
    <vt:lpwstr>1033-12.2.0.23155</vt:lpwstr>
  </property>
</Properties>
</file>